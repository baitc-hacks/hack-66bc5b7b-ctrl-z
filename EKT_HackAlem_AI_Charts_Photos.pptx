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f3e59944e40e2" /><Relationship Type="http://schemas.openxmlformats.org/officeDocument/2006/relationships/extended-properties" Target="/docProps/app.xml" Id="R1e599efb4c794cf0" /><Relationship Type="http://schemas.openxmlformats.org/officeDocument/2006/relationships/officeDocument" Target="/ppt/presentation.xml" Id="R94877be54804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f8f6b5e27a4f5e"/>
  </p:sldMasterIdLst>
  <p:notesMasterIdLst>
    <p:notesMasterId xmlns:r="http://schemas.openxmlformats.org/officeDocument/2006/relationships" r:id="R125155ac36ec4487"/>
  </p:notesMasterIdLst>
  <p:sldIdLst>
    <p:sldId xmlns:r="http://schemas.openxmlformats.org/officeDocument/2006/relationships" id="256" r:id="Re2a989a308784196"/>
    <p:sldId xmlns:r="http://schemas.openxmlformats.org/officeDocument/2006/relationships" id="257" r:id="Re74cf5aad5c24350"/>
    <p:sldId xmlns:r="http://schemas.openxmlformats.org/officeDocument/2006/relationships" id="258" r:id="Rb28455a103524179"/>
    <p:sldId xmlns:r="http://schemas.openxmlformats.org/officeDocument/2006/relationships" id="259" r:id="Rb39fdd3a162046b7"/>
    <p:sldId xmlns:r="http://schemas.openxmlformats.org/officeDocument/2006/relationships" id="260" r:id="R8d3a59e12cce4a60"/>
    <p:sldId xmlns:r="http://schemas.openxmlformats.org/officeDocument/2006/relationships" id="261" r:id="R1faecaa024024784"/>
    <p:sldId xmlns:r="http://schemas.openxmlformats.org/officeDocument/2006/relationships" id="262" r:id="Rb933c98471a04a93"/>
    <p:sldId xmlns:r="http://schemas.openxmlformats.org/officeDocument/2006/relationships" id="263" r:id="Rab89fb868fe44b66"/>
    <p:sldId xmlns:r="http://schemas.openxmlformats.org/officeDocument/2006/relationships" id="264" r:id="R01e0617dd2c34524"/>
    <p:sldId xmlns:r="http://schemas.openxmlformats.org/officeDocument/2006/relationships" id="265" r:id="R5276cd80e2a7458c"/>
    <p:sldId xmlns:r="http://schemas.openxmlformats.org/officeDocument/2006/relationships" id="266" r:id="R7206e53d5b7f4cba"/>
    <p:sldId xmlns:r="http://schemas.openxmlformats.org/officeDocument/2006/relationships" id="267" r:id="R03056e7b7fe74327"/>
    <p:sldId xmlns:r="http://schemas.openxmlformats.org/officeDocument/2006/relationships" id="268" r:id="Ra3314a9315794f5a"/>
    <p:sldId xmlns:r="http://schemas.openxmlformats.org/officeDocument/2006/relationships" id="269" r:id="R22ac661aa5974c2a"/>
    <p:sldId xmlns:r="http://schemas.openxmlformats.org/officeDocument/2006/relationships" id="270" r:id="Rdf2699cbcd3147a9"/>
    <p:sldId xmlns:r="http://schemas.openxmlformats.org/officeDocument/2006/relationships" id="271" r:id="Ra761c123183b491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02004587d4520" /><Relationship Type="http://schemas.openxmlformats.org/officeDocument/2006/relationships/slideMaster" Target="/ppt/slideMasters/slideMaster1.xml" Id="Redf8f6b5e27a4f5e" /><Relationship Type="http://schemas.openxmlformats.org/officeDocument/2006/relationships/notesMaster" Target="/ppt/notesMasters/notesMaster1.xml" Id="R125155ac36ec4487" /><Relationship Type="http://schemas.openxmlformats.org/officeDocument/2006/relationships/presProps" Target="/ppt/presProps.xml" Id="R54318f23270f4d59" /><Relationship Type="http://schemas.openxmlformats.org/officeDocument/2006/relationships/tableStyles" Target="/ppt/tableStyles.xml" Id="Rde534f3404d944e1" /><Relationship Type="http://schemas.openxmlformats.org/officeDocument/2006/relationships/slide" Target="/ppt/slides/slide1.xml" Id="Re2a989a308784196" /><Relationship Type="http://schemas.openxmlformats.org/officeDocument/2006/relationships/slide" Target="/ppt/slides/slide2.xml" Id="Re74cf5aad5c24350" /><Relationship Type="http://schemas.openxmlformats.org/officeDocument/2006/relationships/slide" Target="/ppt/slides/slide3.xml" Id="Rb28455a103524179" /><Relationship Type="http://schemas.openxmlformats.org/officeDocument/2006/relationships/slide" Target="/ppt/slides/slide4.xml" Id="Rb39fdd3a162046b7" /><Relationship Type="http://schemas.openxmlformats.org/officeDocument/2006/relationships/slide" Target="/ppt/slides/slide5.xml" Id="R8d3a59e12cce4a60" /><Relationship Type="http://schemas.openxmlformats.org/officeDocument/2006/relationships/slide" Target="/ppt/slides/slide6.xml" Id="R1faecaa024024784" /><Relationship Type="http://schemas.openxmlformats.org/officeDocument/2006/relationships/slide" Target="/ppt/slides/slide7.xml" Id="Rb933c98471a04a93" /><Relationship Type="http://schemas.openxmlformats.org/officeDocument/2006/relationships/slide" Target="/ppt/slides/slide8.xml" Id="Rab89fb868fe44b66" /><Relationship Type="http://schemas.openxmlformats.org/officeDocument/2006/relationships/slide" Target="/ppt/slides/slide9.xml" Id="R01e0617dd2c34524" /><Relationship Type="http://schemas.openxmlformats.org/officeDocument/2006/relationships/slide" Target="/ppt/slides/slide10.xml" Id="R5276cd80e2a7458c" /><Relationship Type="http://schemas.openxmlformats.org/officeDocument/2006/relationships/slide" Target="/ppt/slides/slide11.xml" Id="R7206e53d5b7f4cba" /><Relationship Type="http://schemas.openxmlformats.org/officeDocument/2006/relationships/slide" Target="/ppt/slides/slide12.xml" Id="R03056e7b7fe74327" /><Relationship Type="http://schemas.openxmlformats.org/officeDocument/2006/relationships/slide" Target="/ppt/slides/slide13.xml" Id="Ra3314a9315794f5a" /><Relationship Type="http://schemas.openxmlformats.org/officeDocument/2006/relationships/slide" Target="/ppt/slides/slide14.xml" Id="R22ac661aa5974c2a" /><Relationship Type="http://schemas.openxmlformats.org/officeDocument/2006/relationships/slide" Target="/ppt/slides/slide15.xml" Id="Rdf2699cbcd3147a9" /><Relationship Type="http://schemas.openxmlformats.org/officeDocument/2006/relationships/slide" Target="/ppt/slides/slide16.xml" Id="Ra761c123183b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fb97a4dd5741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19836d46d4220" /><Relationship Type="http://schemas.openxmlformats.org/officeDocument/2006/relationships/notesMaster" Target="/ppt/notesMasters/notesMaster1.xml" Id="Rb368f9c4da9040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f8990f79b47f3" /><Relationship Type="http://schemas.openxmlformats.org/officeDocument/2006/relationships/notesMaster" Target="/ppt/notesMasters/notesMaster1.xml" Id="R7a9bb555797646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55ff674444d3a" /><Relationship Type="http://schemas.openxmlformats.org/officeDocument/2006/relationships/notesMaster" Target="/ppt/notesMasters/notesMaster1.xml" Id="Rc7880e71d1774e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53c8df059e4e20" /><Relationship Type="http://schemas.openxmlformats.org/officeDocument/2006/relationships/notesMaster" Target="/ppt/notesMasters/notesMaster1.xml" Id="R1f60e00a6b8b4f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e098cd3c8b4816" /><Relationship Type="http://schemas.openxmlformats.org/officeDocument/2006/relationships/notesMaster" Target="/ppt/notesMasters/notesMaster1.xml" Id="Rbbfdc483ecd54b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58c9fe58c649cc" /><Relationship Type="http://schemas.openxmlformats.org/officeDocument/2006/relationships/notesMaster" Target="/ppt/notesMasters/notesMaster1.xml" Id="Rde0a70abe427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8b563deeb4417e" /><Relationship Type="http://schemas.openxmlformats.org/officeDocument/2006/relationships/notesMaster" Target="/ppt/notesMasters/notesMaster1.xml" Id="R805eab3e91e44d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6a5d80de69429b" /><Relationship Type="http://schemas.openxmlformats.org/officeDocument/2006/relationships/notesMaster" Target="/ppt/notesMasters/notesMaster1.xml" Id="Rcbf16f19a7e245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008a4dfe2940f1" /><Relationship Type="http://schemas.openxmlformats.org/officeDocument/2006/relationships/notesMaster" Target="/ppt/notesMasters/notesMaster1.xml" Id="R90c26b70461e42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e7fc2d4a314d17" /><Relationship Type="http://schemas.openxmlformats.org/officeDocument/2006/relationships/notesMaster" Target="/ppt/notesMasters/notesMaster1.xml" Id="Rdb4379518fb14e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619931884342b7" /><Relationship Type="http://schemas.openxmlformats.org/officeDocument/2006/relationships/notesMaster" Target="/ppt/notesMasters/notesMaster1.xml" Id="R1839e597331247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68a63d076246aa" /><Relationship Type="http://schemas.openxmlformats.org/officeDocument/2006/relationships/notesMaster" Target="/ppt/notesMasters/notesMaster1.xml" Id="Rd8e27e23e8144e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46b817a4ab4766" /><Relationship Type="http://schemas.openxmlformats.org/officeDocument/2006/relationships/notesMaster" Target="/ppt/notesMasters/notesMaster1.xml" Id="R28aeb72de7df42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91aa4832354f2d" /><Relationship Type="http://schemas.openxmlformats.org/officeDocument/2006/relationships/notesMaster" Target="/ppt/notesMasters/notesMaster1.xml" Id="Re5b169b534184e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3496905c114cb8" /><Relationship Type="http://schemas.openxmlformats.org/officeDocument/2006/relationships/notesMaster" Target="/ppt/notesMasters/notesMaster1.xml" Id="R77bae8d2d18144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86f649baff4cb2" /><Relationship Type="http://schemas.openxmlformats.org/officeDocument/2006/relationships/notesMaster" Target="/ppt/notesMasters/notesMaster1.xml" Id="R94aa290a496e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Предлагаемое рабочее название EKT Assist. Это концепция решения кейса для сайта ekt.kz. Ассистент консультирует по каталогу, подбирает аналоги и меняет корзину только после явного согласия. Название не является официальным брендом партнёра. Обложка создана ImageGen и не показывает реальные артикулы каталога.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описанию кейса обращения о характеристиках, наличии, аналогах и условиях покупки задерживают решение и создают однотипную работу менеджерам. Точные показатели времени ожидания и потери клиентов не предоставлены. Схема описывает пользовательский путь, а не измеренную воронку продаж. Изображение склада концептуальное.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показано ожидаемое поведение, не скриншот работающего продукта. В реальном предложении указываем конкретную позицию, склад, актуальную цену и количество. Изображение generic electrical products создано ИИ и не соответствует условным артикулам A/B. Перед записью проверяем наличие и цену, затем возвращаем ссылку на актуальную корзину.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серверный оркестратор с ограниченным набором инструментов. Поиск и чтение карточки отделены от изменения корзины. На сервере находятся авторизация API, привязка сессии, проверки количества и одноразовой операции. История ограничена контекстом сессии, пока не согласовано хранение для авторизованных пользователей. Методы корзины требуют отдельного согласования.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артикула используем точное совпадение. Для свободной формулировки — текстовый и семантический поиск. Объединённые кандидаты проходят правила категории. Отсутствующее обязательное поле не трактуем как совпадение. Нужен эксперт партнёра для правил эквивалентности. В ответе показываем отличия и ссылку на карточку.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параметры и остатки синтетические. C не проходит по характеристике, хотя его больше на складе. B проходит только показанные фильтры, а не все требования технической взаимозаменяемости. Необходим набор обязательных полей для каждой категории, утверждённый партнёром.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Столбчатый график использует условные числа из таблицы. A имеет нулевой остаток, B — 5, C — 9. Наличие проверяем после фильтра совместимости. В реальной интеграции запрашиваем свежий остаток по выбранному складу перед предложением и перед записью.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смене цены, количества, товара или склада создаём новое предложение и получаем новое подтверждение. Состояния после нового предложения проходят тот же цикл заново. Срок действия предложения ограничен. Идемпотентный ключ не допускает повторной записи. Проверка учитывает товар уже в корзине. При неопределённом результате записи запрашиваем её статус. Конкурентные изменения требуют атомарной поддержки со стороны корзины.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следующей итерации. Сохраняем источник извлечения, нормализуем количество и единицы продажи. Неуверенное совпадение проверяет клиент. После проверки ассистент формирует предложение, а добавление проходит общий цикл подтверждения. Инструкции внутри файлов считаем данными и не исполняем. Нужны ограничения форматов, размера и сроков хранения.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набор содержит 60 сценариев: 20 каталог, 12 аналоги, 8 условия, 20 корзина. Это план, не выполненная работа. Каждый сценарий имеет запрос, эталон и ожидаемую операцию. Число тестов не доказывает полноту покрытия. Дополнительно измеряем задержку p50/p95 под согласованной нагрузкой. Цель по кейсу — единицы секунд, точный порог необходимо согласовать.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Этапы зависят от интеграции. Сначала проверяем API и эталонные данные, затем ответы и поиск, после этого действия. Для демонстрации допустима локальная корзина, пока партнёр не предоставил её API. Перед пилотом необходимы репозиторий, README, описание данных, проверки и возможность отключить операции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анализ чувствительности, а не прогноз или измеренная экономия. Доли 25, 50, 75 процентов и 4 минуты являются допущениями. Модель N × доля × 4 / 60. Пример 500 × 0,5 × 4 / 60 даёт 16,6667 часа. Не учтены контроль качества и сопровождение. В пилоте допущения заменяем измеренными данными.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Адреса взяты из документа данных. Базовый домен https://ekt.kz. Доступность методов и фактическая схема не проверялись. Реквизиты Basic Auth исключены из презентации. Секреты только на сервере. API корзины, сессии и операции записи в материалах отсутствуют. Условия оплаты, доставки и минимальной партии необходимо получить у партнёра.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проверяет сессию, актуальность предложения, допустимое количество и повтор операции независимо от текста модели. Каталог и вложения считаются недоверенными данными. Для неопределённого результата записи нужен запрос статуса. Срок хранения диалогов и вложений согласовывается с партнёром.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план демонстрации, не утверждение о готовом прототипе. Подготовить каталог с сертификатом, товаром без сертификата, нулевым остатком и подходящим аналогом. Если используется локальная корзина, обозначить её как тестовую. Дополнительно можно показать нехватку остатка и изменение цены. Репозиторий и README должны позволять повторить запуск.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Заканчиваем предложением ограниченного пилота. Проверяем, помогает ли ассистент быстрее получить ответ и уменьшить число типовых обращений. Не обещаем рост конверсии до измерения. Партнёр предоставляет актуальные данные, интеграцию корзины и эксперта для правил аналогов. Главный принцип остаётся неизменным: действие только после подтверждения.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два DOCX кейса ekt.kz, предоставленные пользователем. Архитектура и алгоритмы являются предложением, а не описанием готовой интеграции. API не тестировался. Примерные данные на диаграммах подписаны.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bf5ed3276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2467e19b444ac5" /><Relationship Type="http://schemas.openxmlformats.org/officeDocument/2006/relationships/slideLayout" Target="/ppt/slideLayouts/slideLayout1.xml" Id="R50067d27749743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67d27749743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308751334ffe" /><Relationship Type="http://schemas.openxmlformats.org/officeDocument/2006/relationships/image" Target="/ppt/media/image.png" Id="Rb107b74d104b499b" /><Relationship Type="http://schemas.openxmlformats.org/officeDocument/2006/relationships/notesSlide" Target="/ppt/notesSlides/notesSlide1.xml" Id="R3c23f6c6462643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933cda2d348d5" /><Relationship Type="http://schemas.openxmlformats.org/officeDocument/2006/relationships/image" Target="/ppt/media/image2.png" Id="R4a70a9be76ca49f2" /><Relationship Type="http://schemas.openxmlformats.org/officeDocument/2006/relationships/notesSlide" Target="/ppt/notesSlides/notesSlide2.xml" Id="Raf66af2eaa9446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72f00ebd24ada" /><Relationship Type="http://schemas.openxmlformats.org/officeDocument/2006/relationships/image" Target="/ppt/media/image3.png" Id="R1de147814c5a4dad" /><Relationship Type="http://schemas.openxmlformats.org/officeDocument/2006/relationships/notesSlide" Target="/ppt/notesSlides/notesSlide3.xml" Id="R58756b90c39d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81c57fab54af4" /><Relationship Type="http://schemas.openxmlformats.org/officeDocument/2006/relationships/notesSlide" Target="/ppt/notesSlides/notesSlide4.xml" Id="R00f1fa50133a40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8ec35c0ce403f" /><Relationship Type="http://schemas.openxmlformats.org/officeDocument/2006/relationships/notesSlide" Target="/ppt/notesSlides/notesSlide5.xml" Id="R484f1c4082ad41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ee97d9e424ca2" /><Relationship Type="http://schemas.openxmlformats.org/officeDocument/2006/relationships/notesSlide" Target="/ppt/notesSlides/notesSlide6.xml" Id="Rd0be0253b4f34c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99cf34d5c488c" /><Relationship Type="http://schemas.openxmlformats.org/officeDocument/2006/relationships/chart" Target="/ppt/slides/charts/chart1.xml" Id="R9c3f59b9e1d04ab6" /><Relationship Type="http://schemas.openxmlformats.org/officeDocument/2006/relationships/notesSlide" Target="/ppt/notesSlides/notesSlide7.xml" Id="Ra5e6fa02c4c74a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1dd2b8aed4169" /><Relationship Type="http://schemas.openxmlformats.org/officeDocument/2006/relationships/notesSlide" Target="/ppt/notesSlides/notesSlide8.xml" Id="R5d22f95a64fa4b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e1c2651fc4b4d" /><Relationship Type="http://schemas.openxmlformats.org/officeDocument/2006/relationships/notesSlide" Target="/ppt/notesSlides/notesSlide9.xml" Id="R811f4bd627f44e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669023c79494c" /><Relationship Type="http://schemas.openxmlformats.org/officeDocument/2006/relationships/chart" Target="/ppt/slides/charts/chart2.xml" Id="R847be6a8065e456f" /><Relationship Type="http://schemas.openxmlformats.org/officeDocument/2006/relationships/notesSlide" Target="/ppt/notesSlides/notesSlide10.xml" Id="Rc971b8805b434e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98f05097d467f" /><Relationship Type="http://schemas.openxmlformats.org/officeDocument/2006/relationships/notesSlide" Target="/ppt/notesSlides/notesSlide11.xml" Id="R6384ba78256e4e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4c4aa19d4cfd" /><Relationship Type="http://schemas.openxmlformats.org/officeDocument/2006/relationships/chart" Target="/ppt/slides/charts/chart3.xml" Id="R520ae187dee1491a" /><Relationship Type="http://schemas.openxmlformats.org/officeDocument/2006/relationships/notesSlide" Target="/ppt/notesSlides/notesSlide12.xml" Id="R8b0a85c11bc542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ebb4c35f34c87" /><Relationship Type="http://schemas.openxmlformats.org/officeDocument/2006/relationships/notesSlide" Target="/ppt/notesSlides/notesSlide13.xml" Id="R5b12642228f843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119b72a7d4185" /><Relationship Type="http://schemas.openxmlformats.org/officeDocument/2006/relationships/notesSlide" Target="/ppt/notesSlides/notesSlide14.xml" Id="R59071cb7a00743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3829ee9884560" /><Relationship Type="http://schemas.openxmlformats.org/officeDocument/2006/relationships/notesSlide" Target="/ppt/notesSlides/notesSlide15.xml" Id="R2578a2424bd246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3ee4cf18244a9" /><Relationship Type="http://schemas.openxmlformats.org/officeDocument/2006/relationships/notesSlide" Target="/ppt/notesSlides/notesSlide16.xml" Id="R59600fad1d1146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Остаток, шт.</c:v>
          </c:tx>
          <c:spPr>
            <a:solidFill xmlns:a="http://schemas.openxmlformats.org/drawingml/2006/main">
              <a:srgbClr val="1263D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CB3C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263D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CB3C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Товар A</c:v>
                </c:pt>
                <c:pt idx="1">
                  <c:v>Кандидат B</c:v>
                </c:pt>
                <c:pt idx="2">
                  <c:v>Кандидат 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E4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102E48"/>
                    </a:solidFill>
                    <a:latin typeface="Arial"/>
                    <a:ea typeface="Arial"/>
                    <a:cs typeface="Arial"/>
                  </a:rPr>
                  <a:t>Количество, шт.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02E4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4F7FB"/>
        </a:solidFill>
      </c:spPr>
    </c:plotArea>
    <c:plotVisOnly val="1"/>
  </c:chart>
  <c:spPr>
    <a:solidFill xmlns:a="http://schemas.openxmlformats.org/drawingml/2006/main">
      <a:srgbClr val="F4F7F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Сценарии</c:v>
          </c:tx>
          <c:dPt>
            <c:idx val="0"/>
            <c:spPr>
              <a:solidFill xmlns:a="http://schemas.openxmlformats.org/drawingml/2006/main">
                <a:srgbClr val="1263D6"/>
              </a:solidFill>
            </c:spPr>
          </c:dPt>
          <c:dPt>
            <c:idx val="1"/>
            <c:spPr>
              <a:solidFill xmlns:a="http://schemas.openxmlformats.org/drawingml/2006/main">
                <a:srgbClr val="53C8F3"/>
              </a:solidFill>
            </c:spPr>
          </c:dPt>
          <c:dPt>
            <c:idx val="2"/>
            <c:spPr>
              <a:solidFill xmlns:a="http://schemas.openxmlformats.org/drawingml/2006/main">
                <a:srgbClr val="C6DEF0"/>
              </a:solidFill>
            </c:spPr>
          </c:dPt>
          <c:dPt>
            <c:idx val="3"/>
            <c:spPr>
              <a:solidFill xmlns:a="http://schemas.openxmlformats.org/drawingml/2006/main">
                <a:srgbClr val="102E48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Каталог: 20</c:v>
                </c:pt>
                <c:pt idx="1">
                  <c:v>Аналоги: 12</c:v>
                </c:pt>
                <c:pt idx="2">
                  <c:v>Условия: 8</c:v>
                </c:pt>
                <c:pt idx="3">
                  <c:v>Корзина: 20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8</c:v>
                </c:pt>
                <c:pt idx="3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holeSize val="62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02E4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B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25% без менеджера</c:v>
          </c:tx>
          <c:spPr>
            <a:ln xmlns:a="http://schemas.openxmlformats.org/drawingml/2006/main" w="28575">
              <a:solidFill>
                <a:srgbClr val="85B4D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85B4D1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100</c:v>
                </c:pt>
                <c:pt idx="1">
                  <c:v>300</c:v>
                </c:pt>
                <c:pt idx="2">
                  <c:v>500</c:v>
                </c:pt>
                <c:pt idx="3">
                  <c:v>700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1.67</c:v>
                </c:pt>
                <c:pt idx="1">
                  <c:v>5</c:v>
                </c:pt>
                <c:pt idx="2">
                  <c:v>8.33</c:v>
                </c:pt>
                <c:pt idx="3">
                  <c:v>11.67</c:v>
                </c:pt>
              </c:numCache>
            </c:numRef>
          </c:val>
        </c:ser>
        <c:ser>
          <c:idx val="1"/>
          <c:order val="1"/>
          <c:tx>
            <c:v>50% без менеджера</c:v>
          </c:tx>
          <c:spPr>
            <a:ln xmlns:a="http://schemas.openxmlformats.org/drawingml/2006/main" w="38100">
              <a:solidFill>
                <a:srgbClr val="1263D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263D6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100</c:v>
                </c:pt>
                <c:pt idx="1">
                  <c:v>300</c:v>
                </c:pt>
                <c:pt idx="2">
                  <c:v>500</c:v>
                </c:pt>
                <c:pt idx="3">
                  <c:v>700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3.33</c:v>
                </c:pt>
                <c:pt idx="1">
                  <c:v>10</c:v>
                </c:pt>
                <c:pt idx="2">
                  <c:v>16.67</c:v>
                </c:pt>
                <c:pt idx="3">
                  <c:v>23.33</c:v>
                </c:pt>
              </c:numCache>
            </c:numRef>
          </c:val>
        </c:ser>
        <c:ser>
          <c:idx val="2"/>
          <c:order val="2"/>
          <c:tx>
            <c:v>75% без менеджера</c:v>
          </c:tx>
          <c:spPr>
            <a:ln xmlns:a="http://schemas.openxmlformats.org/drawingml/2006/main" w="28575">
              <a:solidFill>
                <a:srgbClr val="102E4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02E48"/>
              </a:solidFill>
            </c:spPr>
          </c:marker>
          <c:cat>
            <c:numRef>
              <c:f>'Chart Data'!$E$2:$E$5</c:f>
              <c:numCache>
                <c:formatCode>General</c:formatCode>
                <c:ptCount val="4"/>
                <c:pt idx="0">
                  <c:v>100</c:v>
                </c:pt>
                <c:pt idx="1">
                  <c:v>300</c:v>
                </c:pt>
                <c:pt idx="2">
                  <c:v>500</c:v>
                </c:pt>
                <c:pt idx="3">
                  <c:v>700</c:v>
                </c:pt>
              </c:numCache>
            </c:num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5</c:v>
                </c:pt>
                <c:pt idx="1">
                  <c:v>15</c:v>
                </c:pt>
                <c:pt idx="2">
                  <c:v>25</c:v>
                </c:pt>
                <c:pt idx="3">
                  <c:v>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02E48"/>
                    </a:solidFill>
                    <a:latin typeface="Arial"/>
                    <a:ea typeface="Arial"/>
                    <a:cs typeface="Arial"/>
                  </a:rPr>
                  <a:t>Вопросов за выбранный период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02E4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102E48"/>
                    </a:solidFill>
                    <a:latin typeface="Arial"/>
                    <a:ea typeface="Arial"/>
                    <a:cs typeface="Arial"/>
                  </a:rPr>
                  <a:t>Часов менеджера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02E4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4F7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02E4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7b74d104b499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BC872-5039-4483-A1D7-C04CACD9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HACKALEM AI  /  ЭЛЕКТРОКОМПЛЕКТ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EE857-FD37-4688-8AE7-A569B450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57375"/>
            <a:ext cx="6858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EKT</a:t>
            </a:r>
          </a:p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348BD-45DA-4AAE-AD38-69B181CF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6934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ИИ-консультант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выбора электротоваров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FF7EA-D67F-4D29-B5FD-146C1CB3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От запроса до подтверждённой корзины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D113D-D104-4E0C-8B0E-6359143F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056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C5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C5D9"/>
                </a:solidFill>
                <a:latin typeface="Arial"/>
                <a:ea typeface="Arial"/>
                <a:cs typeface="Arial"/>
              </a:rPr>
              <a:t>Предлагаемое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278618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65DAE-2D29-4784-BDF0-B08D9D59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88B9-735C-49A3-8587-C658582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Покупатель ждёт на каждом шаге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DEE2E-8E3A-4233-A562-8A030FE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Типовые вопросы требуют обращения к менеджеру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8185-134A-46E9-BC37-4B7D255C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6FE80-5FF6-4958-93B2-E2992773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71462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508C5-8B3A-4201-A086-C050AAAF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Выбор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238C4-4F8E-40E6-942B-5A987D82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2333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Характеристики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52C98-3F6F-43F0-8D47-64176EF9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76525"/>
            <a:ext cx="271462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8676F-8551-41E7-8CDE-8F279D4F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9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Наличие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54B0A-EA37-4C3C-9354-72A5A59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86125"/>
            <a:ext cx="2333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Остатки по складам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2D74D-9C51-46E2-9E44-1A66A3C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271462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6355D-555E-43B9-9CF4-6D36E25D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09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Замена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65B4C-087F-4143-9CCF-E81F84C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86125"/>
            <a:ext cx="2333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Подходящий аналог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3181A-8C73-49A3-B916-0FF8621B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76525"/>
            <a:ext cx="2781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8DCEA-88B1-49E1-A687-4EE4329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0987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Покупка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62323-6FC0-4615-8F15-F502880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86125"/>
            <a:ext cx="2400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Условия и корзина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24225" y="3390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62725" y="3390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01225" y="3390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0a9be76ca49f2"/>
          <a:srcRect xmlns:a="http://schemas.openxmlformats.org/drawingml/2006/main" l="0" t="22572" r="0" b="22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24375"/>
            <a:ext cx="6276975" cy="22955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59A70-E13E-49F9-91A8-8CE59AF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33900"/>
            <a:ext cx="557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Задержка решения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FA9CE-E70B-48B7-9E79-943CD68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238750"/>
            <a:ext cx="56102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Клиент ждёт ответа.</a:t>
            </a:r>
          </a:p>
          <a:p xmlns:a="http://schemas.openxmlformats.org/drawingml/2006/main">
            <a:pPr>
              <a:defRPr sz="24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Менеджер повторяет</a:t>
            </a:r>
          </a:p>
          <a:p xmlns:a="http://schemas.openxmlformats.org/drawingml/2006/main">
            <a:pPr>
              <a:defRPr sz="24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стандартную консультацию.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9AB19-C4E2-44CB-9C99-19AFB1A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34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Склад: иллюстрация ИИ</a:t>
            </a:r>
          </a:p>
        </p:txBody>
      </p:sp>
    </p:spTree>
    <p:extLst>
      <p:ext uri="{BB962C8B-B14F-4D97-AF65-F5344CB8AC3E}">
        <p14:creationId xmlns:p14="http://schemas.microsoft.com/office/powerpoint/2010/main" val="2144174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60E97-B496-482B-81E3-46AC9CC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ПОЛЬЗОВАТЕЛЬСКИЙ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CFAD3-EEAE-4B82-A488-798477A1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Один диалог доводит клиента до корзины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1EE67-3FF9-45FF-8C61-277E6F9A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Синтетический пример. Товары и цены условные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80C02-FBDD-4BCF-A1C7-E3C1F62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147814c5a4dad"/>
          <a:srcRect xmlns:a="http://schemas.openxmlformats.org/drawingml/2006/main" l="8574" t="0" r="85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01125" y="2638425"/>
            <a:ext cx="4095750" cy="3295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2B10A-5788-4AEF-885E-F9319B5E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76525"/>
            <a:ext cx="2085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68B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59BD-C1D7-4AB3-A959-CE06F91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76525"/>
            <a:ext cx="592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Нужен товар A, 3 штуки.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436E5-3237-438E-8508-5923DB22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2085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68B"/>
                </a:solidFill>
                <a:latin typeface="Arial"/>
                <a:ea typeface="Arial"/>
                <a:cs typeface="Arial"/>
              </a:rPr>
              <a:t>Ассистент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CBE0B-9288-4297-8608-020A5DE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67100"/>
            <a:ext cx="592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A нет. Предлагаю B с объяснением различий.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02E6E-9778-4AEB-A7F8-9D987D0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57675"/>
            <a:ext cx="2085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68B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F48E2-8EEE-4052-97F0-C42927DB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57675"/>
            <a:ext cx="592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B: 3 × 2 000 ₸ = 6 000 ₸. Добавить?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D1DE0-998A-4499-8F19-C25F68E1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2085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96B74-86C7-4B19-BC7C-0B94260B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48250"/>
            <a:ext cx="592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Да, добавь B, 3 штуки.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AA22F-6BB3-42E5-88D8-E0209CFB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2085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68B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D6E88-4AEA-445F-9BC5-F1DB7EA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38825"/>
            <a:ext cx="592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Проверка остатка и ссылка на корзину.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E57E6-556F-45A6-8FE1-2561E90A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38875"/>
            <a:ext cx="4095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Явное согласие</a:t>
            </a:r>
          </a:p>
          <a:p xmlns:a="http://schemas.openxmlformats.org/drawingml/2006/main">
            <a:pPr>
              <a:defRPr sz="247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перед действием</a:t>
            </a:r>
          </a:p>
        </p:txBody>
      </p:sp>
    </p:spTree>
    <p:extLst>
      <p:ext uri="{BB962C8B-B14F-4D97-AF65-F5344CB8AC3E}">
        <p14:creationId xmlns:p14="http://schemas.microsoft.com/office/powerpoint/2010/main" val="158348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CC2B9-4857-45CD-A1F1-EFEC4E0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96991-7874-446E-9A1F-8139F82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Архитектура разделяет ответы и действия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A0EA-1F1E-4583-A8A3-6F4A753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C3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C3D5"/>
                </a:solidFill>
                <a:latin typeface="Arial"/>
                <a:ea typeface="Arial"/>
                <a:cs typeface="Arial"/>
              </a:rPr>
              <a:t>Модель выбирает инструмент. Сервер контролирует выполнение.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56D6A-8284-4502-AE5C-AB08A92F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2BCC0-F4E0-4C04-A499-4092938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44792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E2FB7-5F1F-46D2-90D6-ABB5BD47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2066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Виджет чата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1E7B0-A50F-404A-A089-37C542E5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066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Запрос и сессия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A35AF-F8B0-4D9E-9456-CC51CB00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43325"/>
            <a:ext cx="32575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263D6"/>
          </a:solidFill>
          <a:ln xmlns:a="http://schemas.openxmlformats.org/drawingml/2006/main" w="14288">
            <a:solidFill>
              <a:srgbClr val="1263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1472C-897C-42A9-AB70-390E776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766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Оркестратор 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40D56-5512-40CF-94CC-5C46E60E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52925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7F3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F3FF"/>
                </a:solidFill>
                <a:latin typeface="Arial"/>
                <a:ea typeface="Arial"/>
                <a:cs typeface="Arial"/>
              </a:rPr>
              <a:t>Контекст и план ответа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83A51-131A-47E1-AA13-A1DA0DB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43175"/>
            <a:ext cx="22288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5D5DC-EE4A-4F4F-8360-C617374D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7652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515D-9396-4E5F-896C-C33272F0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52775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Кандидаты и факты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270C1-D2F2-47B8-BC99-78B7ABDC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10150"/>
            <a:ext cx="22288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18D44-9414-47F0-B8FF-F18F3656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1435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AA2EE-CBCC-4574-B4E5-9991383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619750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Согласие и правила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5AA11-E53C-4A69-B3CC-F0BFEDD2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43175"/>
            <a:ext cx="21907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8C23C-8882-42CC-8C6F-48D69B3C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765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Каталог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B39B2-BC54-4EB1-BD19-322D995E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527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API и FAQ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D5C1E-8F93-473D-B66F-B876BFA2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010150"/>
            <a:ext cx="21907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3E1C4-B73D-4EA7-B5C9-80C2557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Корзина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8615C-CEC0-4A6B-AE5B-6C71816C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619750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Сессия сайта</a:t>
            </a:r>
          </a:p>
        </p:txBody>
      </p:sp>
      <p:cxnSp>
        <p:nvCxnSpPr>
          <p:cNvPr id="5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57525" y="44577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0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457825" y="3257550"/>
            <a:ext cx="2514600" cy="485775"/>
          </a:xfrm>
          <a:prstGeom xmlns:a="http://schemas.openxmlformats.org/drawingml/2006/main" prst="bentConnector5">
            <a:avLst>
              <a:gd name="adj1" fmla="val 0"/>
              <a:gd name="adj2" fmla="val 47059"/>
              <a:gd name="adj3" fmla="val 90909"/>
            </a:avLst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57825" y="5172075"/>
            <a:ext cx="2514600" cy="552450"/>
          </a:xfrm>
          <a:prstGeom xmlns:a="http://schemas.openxmlformats.org/drawingml/2006/main" prst="bentConnector5">
            <a:avLst>
              <a:gd name="adj1" fmla="val 0"/>
              <a:gd name="adj2" fmla="val 41379"/>
              <a:gd name="adj3" fmla="val 90909"/>
            </a:avLst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201275" y="32575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201275" y="572452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F8272E-9912-4BE1-8AD2-EB95322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85975"/>
            <a:ext cx="455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Чтение данных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412F9-A1DE-4975-AC2C-0F779026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Изменение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58197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78C0C-4C37-4957-8E59-FB172E7E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ЛОГИКА ПОДБОРА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D84DF-5ADC-4D7C-9395-290DA738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Поиск кандидатов и проверка совместимости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2CF38-3B64-4D36-BBAF-55664FBF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Похожее название помогает найти товар, но не доказывает совместимость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4B7BA-2450-4CB4-8CFE-358BB9D6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F0E0F-FC47-4E2D-9077-EB7B2F0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40982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4426A-52F6-491D-BD08-C4A0E4BE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674C1-256E-438B-9801-8282715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2028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Артикул или описание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14CC2-C914-4DE5-8C06-F0FC137F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76525"/>
            <a:ext cx="27622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C7863-BF81-4C9A-BFA5-103463F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Точный поиск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2D79B-4FE4-44C9-8DC4-944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86125"/>
            <a:ext cx="238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Совпадение артикула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E20C2-2F5A-4F22-AEC5-2EE9804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10150"/>
            <a:ext cx="27622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73116-C187-4617-B4E8-8169C9F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43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По смыслу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B5FE8-2E5C-488D-996D-B4FA58EB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619750"/>
            <a:ext cx="238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Описание и категория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ABF13-230C-44D6-B2A8-C4F1C4D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52875"/>
            <a:ext cx="27622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D1561-F1B7-434C-88AF-3D9AA71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62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Фильтры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E3AC1-36AF-4860-B8B1-DA63FEFC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62475"/>
            <a:ext cx="238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Обязательные параметры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6CF79-7EA0-4DB9-BA9F-D9C5C0F3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52875"/>
            <a:ext cx="261937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69797-35AE-4B5C-9303-25080D74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86225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Рекомендация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CF425-F731-489F-965D-0BC742A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62475"/>
            <a:ext cx="223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Совпадения и различия</a:t>
            </a:r>
          </a:p>
        </p:txBody>
      </p:sp>
      <p:cxnSp>
        <p:nvCxnSpPr>
          <p:cNvPr id="46" name=""/>
          <p:cNvCxnSpPr>
            <a:stCxn xmlns:a="http://schemas.openxmlformats.org/drawingml/2006/main" id="5" idx="0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814513" y="3390900"/>
            <a:ext cx="1871663" cy="561975"/>
          </a:xfrm>
          <a:prstGeom xmlns:a="http://schemas.openxmlformats.org/drawingml/2006/main" prst="bentConnector5">
            <a:avLst>
              <a:gd name="adj1" fmla="val 0"/>
              <a:gd name="adj2" fmla="val 40678"/>
              <a:gd name="adj3" fmla="val 87786"/>
            </a:avLst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5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814513" y="5381625"/>
            <a:ext cx="1871663" cy="342900"/>
          </a:xfrm>
          <a:prstGeom xmlns:a="http://schemas.openxmlformats.org/drawingml/2006/main" prst="bentConnector5">
            <a:avLst>
              <a:gd name="adj1" fmla="val 0"/>
              <a:gd name="adj2" fmla="val 66667"/>
              <a:gd name="adj3" fmla="val 87786"/>
            </a:avLst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448425" y="3390900"/>
            <a:ext cx="2057400" cy="5619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6448425" y="5381625"/>
            <a:ext cx="2057400" cy="3429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86950" y="4667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C0DF2-D2DD-4935-8CFB-80FD0FA4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038850"/>
            <a:ext cx="5838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Недостаточно данных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168F8-7FBA-402E-87A1-D5183BB0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553200"/>
            <a:ext cx="5915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Уточнение у клиента или передача специалисту</a:t>
            </a:r>
          </a:p>
        </p:txBody>
      </p:sp>
    </p:spTree>
    <p:extLst>
      <p:ext uri="{BB962C8B-B14F-4D97-AF65-F5344CB8AC3E}">
        <p14:creationId xmlns:p14="http://schemas.microsoft.com/office/powerpoint/2010/main" val="199635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7826C-12AF-40B2-93D0-96121FB6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6B8A0-DC2D-469C-B7A4-0116838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Аналог проходит фильтры по характеристикам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E5BCF-9285-4CB7-BC9C-1E6E2786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Условный пример выключателя. Полную совместимость подтверждает специалист.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988B9-EA7D-4C47-954B-F2DF567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28900"/>
          <a:ext xmlns:a="http://schemas.openxmlformats.org/drawingml/2006/main" cx="124968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67100"/>
                <a:gridCol w="3009900"/>
                <a:gridCol w="3009900"/>
                <a:gridCol w="3009900"/>
              </a:tblGrid>
              <a:tr h="6175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Требование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Кандидат B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Кандидат C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Полюса / ток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1P / 16 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1P / 16 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1P / 16 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Характеристика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BE5D3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Откл. способность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≥ 6 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6 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6 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Остаток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Нужно 3 шт.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5 шт.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9 шт.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фильтра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продолжается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Прошёл эти фильтры</a:t>
                      </a:r>
                    </a:p>
                  </a:txBody>
                  <a:tcPr marL="91440" marR="91440" marT="45720" marB="45720">
                    <a:solidFill>
                      <a:srgbClr val="D9E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Не прошёл</a:t>
                      </a:r>
                    </a:p>
                  </a:txBody>
                  <a:tcPr marL="91440" marR="91440" marT="45720" marB="45720">
                    <a:solidFill>
                      <a:srgbClr val="FBE5D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6B915-A0B0-465A-87D4-DCE5482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57975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63D6"/>
                </a:solidFill>
                <a:latin typeface="Arial"/>
                <a:ea typeface="Arial"/>
                <a:cs typeface="Arial"/>
              </a:rPr>
              <a:t>Ещё проверяем напряжение, стандарт, монтаж и условия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31756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EE6CA-8331-4C79-9FB3-724F125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ОСТАТКИ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02B31-96EF-4CB4-BDF5-1991DCC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Наличие не заменяет совместимость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A5150-0F59-48A3-BFB4-573F2EB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Синтетические данные из примера. Клиенту нужны 3 штуки.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7E496-6CA9-4DB4-A74A-4AEC1F3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8650" y="2762250"/>
          <a:ext xmlns:a="http://schemas.openxmlformats.org/drawingml/2006/main" cx="877252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3f59b9e1d04ab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58F36-4C86-43C6-8E7B-4879FB0B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25812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7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2CAA7-2415-47E1-AF57-B59131A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67150"/>
            <a:ext cx="26765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Хватает товара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9CFEB-4FF3-4F61-AC74-D4EE0686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7675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5 шт. при запросе 3 шт.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2F45-3A50-4AA8-9E51-85EB81A7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53100"/>
            <a:ext cx="276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C исключён</a:t>
            </a:r>
          </a:p>
          <a:p xmlns:a="http://schemas.openxmlformats.org/drawingml/2006/main">
            <a:pPr>
              <a:defRPr sz="2175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по характеристике</a:t>
            </a:r>
          </a:p>
        </p:txBody>
      </p:sp>
    </p:spTree>
    <p:extLst>
      <p:ext uri="{BB962C8B-B14F-4D97-AF65-F5344CB8AC3E}">
        <p14:creationId xmlns:p14="http://schemas.microsoft.com/office/powerpoint/2010/main" val="57427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3C85C-9519-4B74-B8F2-111FA7DD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СОСТОЯНИЯ КОРЗИНЫ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B5ED7-0A9B-4F5E-B054-134682C2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запускает проверку, затем запись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951CA-F60A-4309-A583-E48452A9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C3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C3D5"/>
                </a:solidFill>
                <a:latin typeface="Arial"/>
                <a:ea typeface="Arial"/>
                <a:cs typeface="Arial"/>
              </a:rPr>
              <a:t>Каждое согласие относится к конкретному предложению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CA58D-65B5-4652-B8EC-5BF2A0D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3BDAA-C78E-4664-BE8B-49BD4158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6479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49337-1404-48CC-9AEF-46BC79E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B6639-27E1-4467-9D3C-0EB11AA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2266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Товар, цена, количество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87A52-A359-48DA-9110-C92203C4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43225"/>
            <a:ext cx="26860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263D6"/>
          </a:solidFill>
          <a:ln xmlns:a="http://schemas.openxmlformats.org/drawingml/2006/main" w="14288">
            <a:solidFill>
              <a:srgbClr val="1263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6F591-4E92-4E4C-9896-E388EFCE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76575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Согласие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87BF2-BDDD-423F-ACFD-72E9496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52825"/>
            <a:ext cx="230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7F3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F3FF"/>
                </a:solidFill>
                <a:latin typeface="Arial"/>
                <a:ea typeface="Arial"/>
                <a:cs typeface="Arial"/>
              </a:rPr>
              <a:t>Явный ответ клиента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5E20C-B796-46AD-B845-3676DD5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43225"/>
            <a:ext cx="26479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942B1-E7D5-4A5F-9D8C-FEDFEF4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76575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04FC1-CB98-4F59-8942-911A25C5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2266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Сессия, цена, остаток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381F1-B4A3-46A0-B57E-2D1784C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43225"/>
            <a:ext cx="24574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173E8-BC7D-47BA-88C7-8BC8C23C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076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Запись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D65DA-50B0-4AF8-AC33-19FABFA0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552825"/>
            <a:ext cx="207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Одна операция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57550" y="3657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629400" y="3657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963150" y="365760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17C2E-84F9-47DC-857E-D5EF6DE0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43550"/>
            <a:ext cx="334327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88883-24CD-42F2-935C-BB8DDC5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769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Новое предложение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01CE6-0D3A-45B2-9E1B-53988495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153150"/>
            <a:ext cx="2962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Если условия изменились</a:t>
            </a:r>
          </a:p>
        </p:txBody>
      </p:sp>
      <p:cxnSp>
        <p:nvCxnSpPr>
          <p:cNvPr id="49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639175" y="4371975"/>
            <a:ext cx="347663" cy="1171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EBA56D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52C86-095F-455A-B6B1-6887FCF8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53050"/>
            <a:ext cx="4848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Без согласия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90810-0984-4CBD-8A13-91ED4C4C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10275"/>
            <a:ext cx="5876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Корзина не меняется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E9D5E-C1D5-43AF-8154-43A622A5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7707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Повтор запроса не создаёт дубль</a:t>
            </a:r>
          </a:p>
        </p:txBody>
      </p:sp>
    </p:spTree>
    <p:extLst>
      <p:ext uri="{BB962C8B-B14F-4D97-AF65-F5344CB8AC3E}">
        <p14:creationId xmlns:p14="http://schemas.microsoft.com/office/powerpoint/2010/main" val="987436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E4EC0-74AB-47F6-A911-1BB026F5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МУЛЬТИМОДАЛЬНЫЙ ВВОД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6A4AF-F58B-4581-BFF9-D69AAD3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Спецификация становится списком для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7FF22-78CF-43A8-B37E-448CCB70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Предлагаемое расширение для PDF, Excel, Word и JPEG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6CCC8-A323-47CB-9348-69FCCB24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D60AF-07B9-4870-B94B-0C9F2C44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8127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D8D1B-B0EF-40FC-9D37-4FC7577F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0140A-123A-4107-B874-B668A9F3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200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Excel / 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04EF9-7B6F-44F7-8BB6-0AF15277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258127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9A62F-AE9B-4B4E-AD85-42E6A99B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Фото / скан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E23C8-E56E-42DB-8D33-25B0E92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2200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PDF / JPEG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B21FE-6312-46A9-8E97-6B83F516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57625"/>
            <a:ext cx="25527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FC0AC-7582-4A7D-9EFB-86950EED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909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Извлечение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C1FE6-AA73-4AC0-86C8-8E7E29F2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6722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Текст, таблицы,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E250D-FC6A-4D66-8D68-31870A84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57625"/>
            <a:ext cx="261937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0F936-C289-4D30-9E73-0618280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90975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Подбор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82A98-7EDF-4B62-A3E5-6E7C186F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67225"/>
            <a:ext cx="223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Артикулы и единицы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282DF-EC1C-4FC2-B2BF-C5AD666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57625"/>
            <a:ext cx="253365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DD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2680B-737C-4AEB-AA10-7ACAEA0C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9097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26690-55C1-454A-9530-B472696F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67225"/>
            <a:ext cx="2152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Спорные строки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190875" y="3362325"/>
            <a:ext cx="2047875" cy="4953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3190875" y="5286375"/>
            <a:ext cx="2047875" cy="39052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15100" y="4572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77425" y="457200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3D6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4FA15-0AE4-441F-8AB8-F853100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53150"/>
            <a:ext cx="90773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Каждую найденную позицию связываем со строкой исходного файла</a:t>
            </a:r>
          </a:p>
        </p:txBody>
      </p:sp>
    </p:spTree>
    <p:extLst>
      <p:ext uri="{BB962C8B-B14F-4D97-AF65-F5344CB8AC3E}">
        <p14:creationId xmlns:p14="http://schemas.microsoft.com/office/powerpoint/2010/main" val="1427253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AE1DF-045F-4210-A62E-BE235865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ПЛАН ТЕСТИРОВАНИЯ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A3A9F-F3F4-4803-9C9A-34496FB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60 сценариев для приёмки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D524E-7330-4285-86EF-C9E083C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Предложение по тестовому набору, не результаты выполненных проверок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C9D34-C7C3-41B6-BAB4-C3B51E7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19125" y="2705100"/>
          <a:ext xmlns:a="http://schemas.openxmlformats.org/drawingml/2006/main" cx="6457950" cy="3971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7be6a8065e456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3ECAD-66C1-4CE2-A9A2-EA94A456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47950"/>
            <a:ext cx="107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88B38-538B-41EE-B757-F0DB238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47950"/>
            <a:ext cx="4010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Каталог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334CC-047A-41EF-8E90-4E776EFD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33725"/>
            <a:ext cx="4010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Факты и сертификаты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BC5B2-5B1E-4D8C-A012-44157217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19500"/>
            <a:ext cx="107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E0AA4-05AF-4376-83A4-AACBF4B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19500"/>
            <a:ext cx="4010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Аналоги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4253A-668D-41AE-8CBF-6C56EF16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05275"/>
            <a:ext cx="4010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Совместимость и пробелы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2166F-C6C3-4452-AD8E-3B598213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91050"/>
            <a:ext cx="107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12CCE-9C15-454A-9615-F55D9808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91050"/>
            <a:ext cx="4010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Условия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9955A-FF68-413C-B1E8-ACFF2FF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76825"/>
            <a:ext cx="4010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Оплата, доставка, партия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1166D-FA5B-4FA7-972C-22EC1226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562600"/>
            <a:ext cx="107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6DC33-7B64-4D18-96A9-EAF51D53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62600"/>
            <a:ext cx="4010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Корзина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A10A5-B99C-4A42-827B-7EC09590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048375"/>
            <a:ext cx="4010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Согласие, повторы, остатки</a:t>
            </a:r>
          </a:p>
        </p:txBody>
      </p:sp>
    </p:spTree>
    <p:extLst>
      <p:ext uri="{BB962C8B-B14F-4D97-AF65-F5344CB8AC3E}">
        <p14:creationId xmlns:p14="http://schemas.microsoft.com/office/powerpoint/2010/main" val="10057407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8B6C0-9622-4C3F-90C9-A086A617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ПЛАН РЕАЛИЗАЦИИ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5011B-165E-41EC-835C-E7920BD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начинается после четырёх проверок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BD157-AE58-4375-BAC9-58160AA1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C3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C3D5"/>
                </a:solidFill>
                <a:latin typeface="Arial"/>
                <a:ea typeface="Arial"/>
                <a:cs typeface="Arial"/>
              </a:rPr>
              <a:t>Каждый этап завершается проверкой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EA1AB-F76D-455D-840E-05A6C7EB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F9FE6-FE12-4D6C-80DB-0E5CDCF5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714625" cy="1628775"/>
          </a:xfrm>
          <a:prstGeom xmlns:a="http://schemas.openxmlformats.org/drawingml/2006/main" prst="roundRect">
            <a:avLst>
              <a:gd name="adj" fmla="val 7602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277D4-E35B-4D15-B059-34694F68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Данные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C8DF7-203A-47E1-8ABC-F157616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Поля API</a:t>
            </a:r>
          </a:p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и тестовый каталог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5574D-0C71-4DDA-9C0C-6BF3DF80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90850"/>
            <a:ext cx="2714625" cy="1628775"/>
          </a:xfrm>
          <a:prstGeom xmlns:a="http://schemas.openxmlformats.org/drawingml/2006/main" prst="roundRect">
            <a:avLst>
              <a:gd name="adj" fmla="val 7602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A353-1E25-4724-B752-63FB4707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Диалог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7A305-152E-4A3A-8F4C-6694510F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Ответы</a:t>
            </a:r>
          </a:p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по источникам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434F3-AF23-4F8A-AE56-6A19ECFE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2714625" cy="1628775"/>
          </a:xfrm>
          <a:prstGeom xmlns:a="http://schemas.openxmlformats.org/drawingml/2006/main" prst="roundRect">
            <a:avLst>
              <a:gd name="adj" fmla="val 7602"/>
            </a:avLst>
          </a:prstGeom>
          <a:solidFill xmlns:a="http://schemas.openxmlformats.org/drawingml/2006/main">
            <a:srgbClr val="112C43"/>
          </a:solidFill>
          <a:ln xmlns:a="http://schemas.openxmlformats.org/drawingml/2006/main" w="14288">
            <a:solidFill>
              <a:srgbClr val="3153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D055B-E8F6-4A76-94CE-7D80AD16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242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Действия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8C788-682C-424F-88C3-71A56494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  <a:p xmlns:a="http://schemas.openxmlformats.org/drawingml/2006/main">
            <a:pPr>
              <a:defRPr sz="1800" b="0">
                <a:solidFill>
                  <a:srgbClr val="AEC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ECBDD"/>
                </a:solidFill>
                <a:latin typeface="Arial"/>
                <a:ea typeface="Arial"/>
                <a:cs typeface="Arial"/>
              </a:rPr>
              <a:t>и тестовая корзина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6AB53-59F4-438F-A21F-94ABCF5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90850"/>
            <a:ext cx="2724150" cy="1628775"/>
          </a:xfrm>
          <a:prstGeom xmlns:a="http://schemas.openxmlformats.org/drawingml/2006/main" prst="roundRect">
            <a:avLst>
              <a:gd name="adj" fmla="val 7602"/>
            </a:avLst>
          </a:prstGeom>
          <a:solidFill xmlns:a="http://schemas.openxmlformats.org/drawingml/2006/main">
            <a:srgbClr val="1263D6"/>
          </a:solidFill>
          <a:ln xmlns:a="http://schemas.openxmlformats.org/drawingml/2006/main" w="14288">
            <a:solidFill>
              <a:srgbClr val="1263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42916-92AB-49A8-B604-E0BB4C3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Пилот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6E634-2720-49C1-9E21-0665260A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004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7F3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F3FF"/>
                </a:solidFill>
                <a:latin typeface="Arial"/>
                <a:ea typeface="Arial"/>
                <a:cs typeface="Arial"/>
              </a:rPr>
              <a:t>Приёмка</a:t>
            </a:r>
          </a:p>
          <a:p xmlns:a="http://schemas.openxmlformats.org/drawingml/2006/main">
            <a:pPr>
              <a:defRPr sz="1800" b="0">
                <a:solidFill>
                  <a:srgbClr val="E7F3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F3FF"/>
                </a:solidFill>
                <a:latin typeface="Arial"/>
                <a:ea typeface="Arial"/>
                <a:cs typeface="Arial"/>
              </a:rPr>
              <a:t>и ограниченный трафик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24225" y="3805238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81775" y="3805238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39325" y="3805238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3C8F3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1FD1F-2B56-47B6-8637-429DB9E0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Критерии готовности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52E79-76A8-4BFD-812A-B1D7E287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34100"/>
            <a:ext cx="11811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Достоверность ответов. Контроль действий.</a:t>
            </a:r>
          </a:p>
          <a:p xmlns:a="http://schemas.openxmlformats.org/drawingml/2006/main">
            <a:pPr>
              <a:defRPr sz="255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Воспроизводимый запуск и журнал ошибок.</a:t>
            </a:r>
          </a:p>
        </p:txBody>
      </p:sp>
    </p:spTree>
    <p:extLst>
      <p:ext uri="{BB962C8B-B14F-4D97-AF65-F5344CB8AC3E}">
        <p14:creationId xmlns:p14="http://schemas.microsoft.com/office/powerpoint/2010/main" val="140565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54368-D76E-4F7E-98A1-C09D01EE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СЦЕНАРНАЯ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370A2-82BE-49D8-BF48-76B084F6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Эффект зависит от доли решённых вопросов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1E81C-AF7F-405F-B488-8B6B4FD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Условное допущение: менеджер тратит 4 минуты на один типовой вопрос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7492A-9050-492E-958D-29C414C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912495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0ae187dee1491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3CAD-ABD8-4E34-9F0C-0ECAEC1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16,7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3EEE4-6927-4526-84E9-58827631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910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часа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14E7E-C08E-49C1-ABA4-51B30C47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010150"/>
            <a:ext cx="28003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500 вопросов</a:t>
            </a:r>
          </a:p>
          <a:p xmlns:a="http://schemas.openxmlformats.org/drawingml/2006/main">
            <a:pPr>
              <a:defRPr sz="2250" b="0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48"/>
                </a:solidFill>
                <a:latin typeface="Arial"/>
                <a:ea typeface="Arial"/>
                <a:cs typeface="Arial"/>
              </a:rPr>
              <a:t>50% без менеджера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367E5-F825-465E-9558-7B970C6B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62775"/>
            <a:ext cx="1219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Расчёт: вопросы × доля × 4 ÷ 60. Затраты на контроль и сопровождение не вычтены.</a:t>
            </a:r>
          </a:p>
        </p:txBody>
      </p:sp>
    </p:spTree>
    <p:extLst>
      <p:ext uri="{BB962C8B-B14F-4D97-AF65-F5344CB8AC3E}">
        <p14:creationId xmlns:p14="http://schemas.microsoft.com/office/powerpoint/2010/main" val="16220568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2D023-7782-4ACF-8891-A5FA0F10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ИНТЕГРАЦИЯ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F9C8C-51C0-4208-9580-FE7EF71F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Что уже предоставлено и что нужно уточнить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662D1-A0D5-42CA-A9DC-B8A86A13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3AB01-7873-4E8C-97B9-E3D6B8B4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33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API каталога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433AD-B328-4363-BD01-1944D1A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219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GET /api/products?page=2</a:t>
            </a:r>
          </a:p>
          <a:p xmlns:a="http://schemas.openxmlformats.org/drawingml/2006/main">
            <a:pPr>
              <a:defRPr sz="2400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GET /api/products/detail?id=515291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4733925"/>
          <a:ext xmlns:a="http://schemas.openxmlformats.org/drawingml/2006/main" cx="124968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6591300"/>
              </a:tblGrid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Есть в материалах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Нужно от партнёра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Адреса API каталога и Basic Auth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API корзины и сессия покупателя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Описание необходимых полей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Фактическая схема и свежесть данных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Правила поведения ассистента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Условия покупки и правила аналогов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980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5553F-724A-448E-900C-71F5F94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НАДЁЖНОСТЬ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48863-F17D-4483-979B-546BD388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Ошибки не должны менять корзину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BEF0-1E95-48C8-89CF-5EC5B3B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249680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4791075"/>
                <a:gridCol w="3752850"/>
              </a:tblGrid>
              <a:tr h="679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Реакция системы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API недоступен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Сообщить о сбое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Имитация таймаута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Цена или остаток изменились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Новое предложение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перед записью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запрос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той же операции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Повтор / двойной клик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Команда внутри файла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Не исполнять как инструкцию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Вредоносный текст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Чужая сессия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Отклонить подтверждение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Подмена сессии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1DC9D-8E84-4789-A88E-9879EF86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19900"/>
            <a:ext cx="1228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63D6"/>
                </a:solidFill>
                <a:latin typeface="Arial"/>
                <a:ea typeface="Arial"/>
                <a:cs typeface="Arial"/>
              </a:rPr>
              <a:t>Минимум персональных данных. Платёжные данные не запрашиваем и не храним.</a:t>
            </a:r>
          </a:p>
        </p:txBody>
      </p:sp>
    </p:spTree>
    <p:extLst>
      <p:ext uri="{BB962C8B-B14F-4D97-AF65-F5344CB8AC3E}">
        <p14:creationId xmlns:p14="http://schemas.microsoft.com/office/powerpoint/2010/main" val="2013942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2DD2E-9C97-4E7D-BDE9-B8C25C32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3D6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7B283-5931-409D-AA54-C9EE044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E4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E48"/>
                </a:solidFill>
                <a:latin typeface="Arial"/>
                <a:ea typeface="Arial"/>
                <a:cs typeface="Arial"/>
              </a:rPr>
              <a:t>Демонстрация доказывает пять функций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AFCE6-6B1B-4216-94AD-1811445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228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Показываем ожидаемое поведение на подготовленном тестовом каталоге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EFC16-7B06-4CDF-BDD9-3F7F262E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24968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57775"/>
                <a:gridCol w="7439025"/>
              </a:tblGrid>
              <a:tr h="6556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проверяет жюри</a:t>
                      </a:r>
                    </a:p>
                  </a:txBody>
                  <a:tcPr marL="91440" marR="91440" marT="45720" marB="45720">
                    <a:solidFill>
                      <a:srgbClr val="102E48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1  Запрос по артикулу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Характеристики, остаток, сертификат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2  Отсутствующий товар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Релевантный аналог с объяснением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3  Условия покупки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Ответ по утверждённым данным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4  Предложение без согласия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Корзина остаётся прежней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5  Подтверждение и повтор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E48"/>
                          </a:solidFill>
                          <a:latin typeface="Arial"/>
                          <a:ea typeface="Arial"/>
                          <a:cs typeface="Arial"/>
                        </a:rPr>
                        <a:t>Корректное количество, ссылка, отсутствие дубля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337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ED400-2AD5-488A-B1B4-56A9781B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C8F3"/>
                </a:solidFill>
                <a:latin typeface="Arial"/>
                <a:ea typeface="Arial"/>
                <a:cs typeface="Arial"/>
              </a:rPr>
              <a:t>ПРЕДЛОЖЕНИЕ ПАРТНЁРУ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1DD16-8DAA-47B1-8E5C-2ED961E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2382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с Электрокомплектом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12F6D-1CB6-41F0-8121-4CDED97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91375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16FF4-7A4F-493D-A3E1-227A26B0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12001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Подобрать.</a:t>
            </a:r>
          </a:p>
          <a:p xmlns:a="http://schemas.openxmlformats.org/drawingml/2006/main">
            <a:pPr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Объяснить.</a:t>
            </a:r>
          </a:p>
          <a:p xmlns:a="http://schemas.openxmlformats.org/drawingml/2006/main">
            <a:pPr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Подтвердить.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E8A9-265A-494B-A1B8-255C1376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91150"/>
            <a:ext cx="1200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53C8F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53C8F3"/>
                </a:solidFill>
                <a:latin typeface="Arial"/>
                <a:ea typeface="Arial"/>
                <a:cs typeface="Arial"/>
              </a:rPr>
              <a:t>Клиент сохраняет контроль над покупкой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8F80D-0963-4382-BF70-6930D08A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1209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DC7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DC7DA"/>
                </a:solidFill>
                <a:latin typeface="Arial"/>
                <a:ea typeface="Arial"/>
                <a:cs typeface="Arial"/>
              </a:rPr>
              <a:t>Для запуска: проверенные данные, интеграция корзины</a:t>
            </a:r>
          </a:p>
          <a:p xmlns:a="http://schemas.openxmlformats.org/drawingml/2006/main">
            <a:pPr>
              <a:defRPr sz="2250" b="0">
                <a:solidFill>
                  <a:srgbClr val="ADC7D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DC7DA"/>
                </a:solidFill>
                <a:latin typeface="Arial"/>
                <a:ea typeface="Arial"/>
                <a:cs typeface="Arial"/>
              </a:rPr>
              <a:t>и эксперт по совместимости товаров.</a:t>
            </a:r>
          </a:p>
        </p:txBody>
      </p:sp>
    </p:spTree>
    <p:extLst>
      <p:ext uri="{BB962C8B-B14F-4D97-AF65-F5344CB8AC3E}">
        <p14:creationId xmlns:p14="http://schemas.microsoft.com/office/powerpoint/2010/main" val="148716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2026-09-23T10:17:32.0680000Z</dcterms:created>
  <dcterms:modified xsi:type="dcterms:W3CDTF">2026-09-23T10:17:32.0680000Z</dcterms:modified>
</coreProperties>
</file>