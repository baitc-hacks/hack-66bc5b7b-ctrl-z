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84bcbb2ac34d51" /><Relationship Type="http://schemas.openxmlformats.org/officeDocument/2006/relationships/extended-properties" Target="/docProps/app.xml" Id="Red2676fea8fe490f" /><Relationship Type="http://schemas.openxmlformats.org/officeDocument/2006/relationships/officeDocument" Target="/ppt/presentation.xml" Id="R8115959c7a7d47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a42eb7f3744d5f"/>
  </p:sldMasterIdLst>
  <p:notesMasterIdLst>
    <p:notesMasterId xmlns:r="http://schemas.openxmlformats.org/officeDocument/2006/relationships" r:id="R26a3ef835a1f4f2b"/>
  </p:notesMasterIdLst>
  <p:sldIdLst>
    <p:sldId xmlns:r="http://schemas.openxmlformats.org/officeDocument/2006/relationships" id="256" r:id="R941c816d7032400b"/>
    <p:sldId xmlns:r="http://schemas.openxmlformats.org/officeDocument/2006/relationships" id="257" r:id="R2c65d2ea906d4bad"/>
    <p:sldId xmlns:r="http://schemas.openxmlformats.org/officeDocument/2006/relationships" id="258" r:id="Ra01cf114ffe1407f"/>
    <p:sldId xmlns:r="http://schemas.openxmlformats.org/officeDocument/2006/relationships" id="259" r:id="R99223fcba36342ea"/>
    <p:sldId xmlns:r="http://schemas.openxmlformats.org/officeDocument/2006/relationships" id="260" r:id="Ra780beeac6684061"/>
    <p:sldId xmlns:r="http://schemas.openxmlformats.org/officeDocument/2006/relationships" id="261" r:id="Ree4324c4fb004c25"/>
    <p:sldId xmlns:r="http://schemas.openxmlformats.org/officeDocument/2006/relationships" id="262" r:id="R3dc17eaf02a846d0"/>
    <p:sldId xmlns:r="http://schemas.openxmlformats.org/officeDocument/2006/relationships" id="263" r:id="Rb29019357d3c4c9f"/>
    <p:sldId xmlns:r="http://schemas.openxmlformats.org/officeDocument/2006/relationships" id="264" r:id="Rc557569a6678491a"/>
    <p:sldId xmlns:r="http://schemas.openxmlformats.org/officeDocument/2006/relationships" id="265" r:id="Rc76f45b31f7c4173"/>
    <p:sldId xmlns:r="http://schemas.openxmlformats.org/officeDocument/2006/relationships" id="266" r:id="Rdf727658e2d9471d"/>
    <p:sldId xmlns:r="http://schemas.openxmlformats.org/officeDocument/2006/relationships" id="267" r:id="R5a3a474461ee4b8c"/>
    <p:sldId xmlns:r="http://schemas.openxmlformats.org/officeDocument/2006/relationships" id="268" r:id="R412ce10cc2e04560"/>
    <p:sldId xmlns:r="http://schemas.openxmlformats.org/officeDocument/2006/relationships" id="269" r:id="R9b78297f403a47fb"/>
    <p:sldId xmlns:r="http://schemas.openxmlformats.org/officeDocument/2006/relationships" id="270" r:id="R270f32597cd74352"/>
    <p:sldId xmlns:r="http://schemas.openxmlformats.org/officeDocument/2006/relationships" id="271" r:id="R1aff996e155640e7"/>
    <p:sldId xmlns:r="http://schemas.openxmlformats.org/officeDocument/2006/relationships" id="272" r:id="R4885177bc50748d6"/>
    <p:sldId xmlns:r="http://schemas.openxmlformats.org/officeDocument/2006/relationships" id="273" r:id="R65fbf83b58ab4d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d533b4cf01468b" /><Relationship Type="http://schemas.openxmlformats.org/officeDocument/2006/relationships/slideMaster" Target="/ppt/slideMasters/slideMaster1.xml" Id="R27a42eb7f3744d5f" /><Relationship Type="http://schemas.openxmlformats.org/officeDocument/2006/relationships/notesMaster" Target="/ppt/notesMasters/notesMaster1.xml" Id="R26a3ef835a1f4f2b" /><Relationship Type="http://schemas.openxmlformats.org/officeDocument/2006/relationships/presProps" Target="/ppt/presProps.xml" Id="R82f66c475a074e44" /><Relationship Type="http://schemas.openxmlformats.org/officeDocument/2006/relationships/tableStyles" Target="/ppt/tableStyles.xml" Id="R6db50b8c30324aae" /><Relationship Type="http://schemas.openxmlformats.org/officeDocument/2006/relationships/slide" Target="/ppt/slides/slide1.xml" Id="R941c816d7032400b" /><Relationship Type="http://schemas.openxmlformats.org/officeDocument/2006/relationships/slide" Target="/ppt/slides/slide2.xml" Id="R2c65d2ea906d4bad" /><Relationship Type="http://schemas.openxmlformats.org/officeDocument/2006/relationships/slide" Target="/ppt/slides/slide3.xml" Id="Ra01cf114ffe1407f" /><Relationship Type="http://schemas.openxmlformats.org/officeDocument/2006/relationships/slide" Target="/ppt/slides/slide4.xml" Id="R99223fcba36342ea" /><Relationship Type="http://schemas.openxmlformats.org/officeDocument/2006/relationships/slide" Target="/ppt/slides/slide5.xml" Id="Ra780beeac6684061" /><Relationship Type="http://schemas.openxmlformats.org/officeDocument/2006/relationships/slide" Target="/ppt/slides/slide6.xml" Id="Ree4324c4fb004c25" /><Relationship Type="http://schemas.openxmlformats.org/officeDocument/2006/relationships/slide" Target="/ppt/slides/slide7.xml" Id="R3dc17eaf02a846d0" /><Relationship Type="http://schemas.openxmlformats.org/officeDocument/2006/relationships/slide" Target="/ppt/slides/slide8.xml" Id="Rb29019357d3c4c9f" /><Relationship Type="http://schemas.openxmlformats.org/officeDocument/2006/relationships/slide" Target="/ppt/slides/slide9.xml" Id="Rc557569a6678491a" /><Relationship Type="http://schemas.openxmlformats.org/officeDocument/2006/relationships/slide" Target="/ppt/slides/slide10.xml" Id="Rc76f45b31f7c4173" /><Relationship Type="http://schemas.openxmlformats.org/officeDocument/2006/relationships/slide" Target="/ppt/slides/slide11.xml" Id="Rdf727658e2d9471d" /><Relationship Type="http://schemas.openxmlformats.org/officeDocument/2006/relationships/slide" Target="/ppt/slides/slide12.xml" Id="R5a3a474461ee4b8c" /><Relationship Type="http://schemas.openxmlformats.org/officeDocument/2006/relationships/slide" Target="/ppt/slides/slide13.xml" Id="R412ce10cc2e04560" /><Relationship Type="http://schemas.openxmlformats.org/officeDocument/2006/relationships/slide" Target="/ppt/slides/slide14.xml" Id="R9b78297f403a47fb" /><Relationship Type="http://schemas.openxmlformats.org/officeDocument/2006/relationships/slide" Target="/ppt/slides/slide15.xml" Id="R270f32597cd74352" /><Relationship Type="http://schemas.openxmlformats.org/officeDocument/2006/relationships/slide" Target="/ppt/slides/slide16.xml" Id="R1aff996e155640e7" /><Relationship Type="http://schemas.openxmlformats.org/officeDocument/2006/relationships/slide" Target="/ppt/slides/slide17.xml" Id="R4885177bc50748d6" /><Relationship Type="http://schemas.openxmlformats.org/officeDocument/2006/relationships/slide" Target="/ppt/slides/slide18.xml" Id="R65fbf83b58ab4d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77aabee6ce4d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a39d9e20cf49a3" /><Relationship Type="http://schemas.openxmlformats.org/officeDocument/2006/relationships/notesMaster" Target="/ppt/notesMasters/notesMaster1.xml" Id="R6fa30b12b70c4d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d0205ee13a4cae" /><Relationship Type="http://schemas.openxmlformats.org/officeDocument/2006/relationships/notesMaster" Target="/ppt/notesMasters/notesMaster1.xml" Id="R08e8c0ce71b843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860cd2ab5042da" /><Relationship Type="http://schemas.openxmlformats.org/officeDocument/2006/relationships/notesMaster" Target="/ppt/notesMasters/notesMaster1.xml" Id="R7e32b0d5f6d44b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d734d553fa4545" /><Relationship Type="http://schemas.openxmlformats.org/officeDocument/2006/relationships/notesMaster" Target="/ppt/notesMasters/notesMaster1.xml" Id="R4e51650f36324a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6f7226107f4f1c" /><Relationship Type="http://schemas.openxmlformats.org/officeDocument/2006/relationships/notesMaster" Target="/ppt/notesMasters/notesMaster1.xml" Id="Ra761e341c87b48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c514a6b8124505" /><Relationship Type="http://schemas.openxmlformats.org/officeDocument/2006/relationships/notesMaster" Target="/ppt/notesMasters/notesMaster1.xml" Id="Rc8a3db6ed75646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f87115540a4ea2" /><Relationship Type="http://schemas.openxmlformats.org/officeDocument/2006/relationships/notesMaster" Target="/ppt/notesMasters/notesMaster1.xml" Id="Rac21a56321b048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7e6f28f4a34f78" /><Relationship Type="http://schemas.openxmlformats.org/officeDocument/2006/relationships/notesMaster" Target="/ppt/notesMasters/notesMaster1.xml" Id="Rf7687d67de3a4c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da7fd84b554934" /><Relationship Type="http://schemas.openxmlformats.org/officeDocument/2006/relationships/notesMaster" Target="/ppt/notesMasters/notesMaster1.xml" Id="R93750447ec6045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c70c46b2014544" /><Relationship Type="http://schemas.openxmlformats.org/officeDocument/2006/relationships/notesMaster" Target="/ppt/notesMasters/notesMaster1.xml" Id="R2662320aba1f40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3935d5ad874e50" /><Relationship Type="http://schemas.openxmlformats.org/officeDocument/2006/relationships/notesMaster" Target="/ppt/notesMasters/notesMaster1.xml" Id="R44401dceb44f4b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ccd95a77b243bc" /><Relationship Type="http://schemas.openxmlformats.org/officeDocument/2006/relationships/notesMaster" Target="/ppt/notesMasters/notesMaster1.xml" Id="Rc2e53b76771b47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8adf8eec8f47e0" /><Relationship Type="http://schemas.openxmlformats.org/officeDocument/2006/relationships/notesMaster" Target="/ppt/notesMasters/notesMaster1.xml" Id="Ra9bfb7e2d7f247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d5d85ca9114ff7" /><Relationship Type="http://schemas.openxmlformats.org/officeDocument/2006/relationships/notesMaster" Target="/ppt/notesMasters/notesMaster1.xml" Id="Rdf16f19034c24b0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9ceaf8842149cc" /><Relationship Type="http://schemas.openxmlformats.org/officeDocument/2006/relationships/notesMaster" Target="/ppt/notesMasters/notesMaster1.xml" Id="Rfd27aeef1d094d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bf8e6d870ac40c9" /><Relationship Type="http://schemas.openxmlformats.org/officeDocument/2006/relationships/notesMaster" Target="/ppt/notesMasters/notesMaster1.xml" Id="R3b77d7082191429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4478b976854daf" /><Relationship Type="http://schemas.openxmlformats.org/officeDocument/2006/relationships/notesMaster" Target="/ppt/notesMasters/notesMaster1.xml" Id="Ra8452a2a7d4e4a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7f05d011b424200" /><Relationship Type="http://schemas.openxmlformats.org/officeDocument/2006/relationships/notesMaster" Target="/ppt/notesMasters/notesMaster1.xml" Id="R63971cbff1c243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Около 25 секунд. Мы предлагаем ассистента, который помогает клиенту подобрать электротехнический товар и подготовить покупку в одном чате. Он отвечает по каталогу, объясняет аналоги и изменяет корзину только с согласия клиента. Презентация описывает концепцию и план реализации.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Обложка: концептуальное изображение создано встроенным ImageGen. Это не фотография каталога ekt.kz.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секунд. По кейсу покупатель вынужден обращаться к менеджеру за характеристиками, наличием и аналогами. Ассистент должен помочь пройти эти шаги в одном чате. Количественные показатели потерь не предоставлены.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Изображение создано встроенным ImageGen. Оно не изображает реальный склад Электрокомплекта.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секунд. Основой служат структурированные данные каталога и остатков. Прототип закрывает обязательные функции кейса. Фото и документы поддерживаем следующей итерацией, казахский язык и эскалация остаются опциональными возможностями.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Изображение создано ImageGen и показывает generic electrical products, а не реальные артикулы ekt.kz.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секунд. Здесь важны три детали: источник характеристик, точное предложение с количеством и ценой, а затем явное подтверждение. Система не трактует вопрос о наличии как разрешение на запись. Все товары и цифры на слайде условные. Для реального предложения также показываем склад и различия аналога. В демонстрации ссылка должна открывать текущее состояние тестовой корзины.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Точное совпадение артикула имеет приоритет. Для свободной формулировки комбинируем текстовый и семантический поиск. Это помогает вспомнить нужные товары, но не доказывает их совместимость. Факты проверяем по карточке и структурированным полям. Условия покупки получаем из утверждённой базы знаний. При недоступности API не подменяем актуальные цены и наличие предположениями.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Все значения синтетические. На примере видно, почему похожее название не делает товар аналогом. Кандидат C отличается характеристикой срабатывания и не проходит выбранный фильтр. B проходит только показанную часть проверки. Полный набор требований, правила сравнения и допустимые отклонения должен утвердить специалист партнёра. Неизвестное значение не считаем совпадением. Затем учитываем наличие, предпочтения клиента и цену.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Показываем только условные остатки из предыдущего слайда: A отсутствует, B имеет 5 штук, C имеет 9. C не проходит по характеристике, поэтому большое наличие не является аргументом для рекомендации. Это не реальные остатки каталога и не результаты обращения к API.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Чат обращается к серверу, а не напрямую к API с секретами. Языковая модель вызывает ограниченные инструменты, например поиск и чтение карточки. Серверный сервис действий единолично отвечает за запись в корзину. Индекс поиска ускоряет нахождение кандидатов, но актуальные значения проверяются у источника. Сервис хранит контекст сессии, идентификаторы предложений и журнал операций без платёжных данных. Методы корзины пока не предоставлены.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секунд. Создаём предложение с ограниченным сроком действия. Подтверждение относится к конкретной версии предложения и текущей сессии. Изменение артикула, количества, цены или склада отменяет прежнее согласие. Идемпотентный ключ защищает от двойного клика и повторной доставки запроса. Проверка количества учитывает уже добавленные позиции. При неопределённом результате записи сначала сверяем статус операции, а не повторяем добавление. Атомарность и конкурентные изменения требуют поддержки на стороне корзины.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секунд. Спецификация может содержать несколько десятков строк и сокращения. Поэтому сначала извлекаем структуру и сохраняем привязку к источнику. Нераспознанные значения не подставляем наугад. Пользователь проверяет спорные строки. Разделяем единицы продажи и количество, например метры и штуки. Тексты документов и изображений являются недоверенными данными и не могут разрешать операции. Файлы обрабатываем с ограничениями размера, типа и срока хранения.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Собираем набор проверок с эталонами и отдельно сложные запросы. Для критических операций целевой критерий нулевой: никаких изменений без подтверждения и дублирования. Для аналогов нужен эксперт, иначе оценка будет проверять лишь похожесть текста. Задержку измеряем не одним удачным запросом, а распределением p50 и p95 под согласованной нагрузкой. На пилоте сравниваем поведение сопоставимых групп с чатом и без чата. Не выдаём целевые значения за достигнутые результаты.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новый предлагаемый план тестового набора, а не метрика выполненной работы. Всего 60 сценариев: 20 по каталогу, 12 по аналогам, 8 по условиям покупки и 20 по корзине. Для каждого нужны вход, эталонный источник и ожидаемое поведение. Число тестов не означает полноту покрытия. Распределение следует скорректировать после анализа реального каталога и рисков.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секунд. Каждый этап имеет проверяемый результат. Сначала доступ и структура данных, затем консультация, потом действия. Пока API корзины неизвестен, демонстрируем полный сценарий с честно обозначенной локальной корзиной. Для пилота необходимы документация запуска, репозиторий, журнал ошибок и возможность отключить операции записи. Сроки и трудозатраты зависят от интеграции и состава команды, поэтому не фиксируем выдуманный календарь.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анализ чувствительности, не обещание экономии. Ось X показывает число однотипных вопросов за выбранный период. Доли 25%, 50%, 75% и среднее время 4 минуты являются условными допущениями. Модель оценивает высвобождаемые часы: N × доля × 4 / 60. При 500 вопросах и доле 50% это 16,6667 часа. Затраты на контроль, работу сервиса и сопровождение не вычтены, поэтому это не чистая экономия и не финансовый эффект. В пилоте нужно заменить допущения измерениями.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секунд. Подводим итог: ценность заключается в завершённом пути клиента и проверяемости каждого шага. Просим партнёра подтвердить доступ к данным, предоставить интеграцию корзины и выделить эксперта. На ограниченном пилоте проверим, сокращает ли ассистент ожидание и количество типовых обращений. Основная часть выступления завершается здесь. Далее три технических слайда для вопросов жюри. Основная часть теперь включает дополнительные графики.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при вопросах об интеграции. Базовый адрес: https://ekt.kz. Документ данных содержит логин и пароль Basic Auth, но они намеренно исключены из презентации. Не проводилась проверка API в рамках этой работы. Перечень полей на слайде является требуемым контрактом, а не подтверждённой схемой ответа. В реальном решении нужны пагинация, таймауты, ограниченные повторы чтения и обработка неполных карточек.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для ответов о безопасности. Политики действий должны выполняться сервером независимо от текста модели. Проверяем подмену сессии, истёкшее предложение, повторные запросы и изменение условий. Каталог и вложения считаем недоверенными источниками, которые не могут менять системные правила. При сетевой ошибке после записи выясняем статус, иначе повтор может добавить товар ещё раз. Сроки хранения диалогов и вложений необходимо согласовать с партнёром.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 рассчитан на заранее подготовленный набор каталога. Включить существующий артикул с сертификатом, товар без сертификата, отсутствующую позицию и подходящий аналог. Отдельно показать нехватку остатка и изменение условий. Если используется локальная корзина, сказать об этом прямо. Итоговые артефакты прототипа: репозиторий, README, инструкция запуска, описание данных и результаты сценариев.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Основа: HackAlem AI_ ИИ-ассистент для чата на сайте ekt.kz.docx и ИИ-ассистент для чата на сайте ekt.kz ДАННЫЕ.docx, предоставленные пользователем. Архитектура, алгоритмы и критерии пилота являются предложением команды, не результатами испытаний.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b9bf32c6043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469b8a838b4c10" /><Relationship Type="http://schemas.openxmlformats.org/officeDocument/2006/relationships/slideLayout" Target="/ppt/slideLayouts/slideLayout1.xml" Id="R7eee94cee3484e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ee94cee3484e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6f4ef9961482d" /><Relationship Type="http://schemas.openxmlformats.org/officeDocument/2006/relationships/image" Target="/ppt/media/image.png" Id="R16a6a7fbff84423d" /><Relationship Type="http://schemas.openxmlformats.org/officeDocument/2006/relationships/notesSlide" Target="/ppt/notesSlides/notesSlide1.xml" Id="R3f50684dd2b949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d7ec5603648df" /><Relationship Type="http://schemas.openxmlformats.org/officeDocument/2006/relationships/image" Target="/ppt/media/image2.png" Id="Re9b8174b21d745e9" /><Relationship Type="http://schemas.openxmlformats.org/officeDocument/2006/relationships/notesSlide" Target="/ppt/notesSlides/notesSlide2.xml" Id="R451d69ad0c3a4a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1114da9274c22" /><Relationship Type="http://schemas.openxmlformats.org/officeDocument/2006/relationships/image" Target="/ppt/media/image3.png" Id="R6b874e674a004631" /><Relationship Type="http://schemas.openxmlformats.org/officeDocument/2006/relationships/notesSlide" Target="/ppt/notesSlides/notesSlide3.xml" Id="R8c78b521e05d44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7a0b44a0747d5" /><Relationship Type="http://schemas.openxmlformats.org/officeDocument/2006/relationships/notesSlide" Target="/ppt/notesSlides/notesSlide4.xml" Id="R17147f6b39ed4b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abdeb28b649ff" /><Relationship Type="http://schemas.openxmlformats.org/officeDocument/2006/relationships/notesSlide" Target="/ppt/notesSlides/notesSlide5.xml" Id="Rac199edf78314b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6b63640834ae1" /><Relationship Type="http://schemas.openxmlformats.org/officeDocument/2006/relationships/notesSlide" Target="/ppt/notesSlides/notesSlide6.xml" Id="R1ec03ab89d7f4e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51d82c3754571" /><Relationship Type="http://schemas.openxmlformats.org/officeDocument/2006/relationships/chart" Target="/ppt/slides/charts/chart1.xml" Id="R6bf5c74c91c94947" /><Relationship Type="http://schemas.openxmlformats.org/officeDocument/2006/relationships/notesSlide" Target="/ppt/notesSlides/notesSlide7.xml" Id="Re5b7bfff2fe54f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0744b61504b36" /><Relationship Type="http://schemas.openxmlformats.org/officeDocument/2006/relationships/notesSlide" Target="/ppt/notesSlides/notesSlide8.xml" Id="Rff94066b17fd4d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c2b4d1b344dd1" /><Relationship Type="http://schemas.openxmlformats.org/officeDocument/2006/relationships/notesSlide" Target="/ppt/notesSlides/notesSlide9.xml" Id="Rd7c77f0b924342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a0eb68a3f4d21" /><Relationship Type="http://schemas.openxmlformats.org/officeDocument/2006/relationships/notesSlide" Target="/ppt/notesSlides/notesSlide10.xml" Id="R0c89aa846daf48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0cabc9aff4d03" /><Relationship Type="http://schemas.openxmlformats.org/officeDocument/2006/relationships/notesSlide" Target="/ppt/notesSlides/notesSlide11.xml" Id="R1d5330c636894b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69a7558e44ff1" /><Relationship Type="http://schemas.openxmlformats.org/officeDocument/2006/relationships/chart" Target="/ppt/slides/charts/chart2.xml" Id="R43091d1bb4774408" /><Relationship Type="http://schemas.openxmlformats.org/officeDocument/2006/relationships/notesSlide" Target="/ppt/notesSlides/notesSlide12.xml" Id="Rb35ee7d19f33417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0ef6e74e64fce" /><Relationship Type="http://schemas.openxmlformats.org/officeDocument/2006/relationships/notesSlide" Target="/ppt/notesSlides/notesSlide13.xml" Id="R217a15f9701540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e13d648754728" /><Relationship Type="http://schemas.openxmlformats.org/officeDocument/2006/relationships/chart" Target="/ppt/slides/charts/chart3.xml" Id="Re8ede34b5cc64feb" /><Relationship Type="http://schemas.openxmlformats.org/officeDocument/2006/relationships/notesSlide" Target="/ppt/notesSlides/notesSlide14.xml" Id="R5ca0e6fd885246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b70371aaa44b9" /><Relationship Type="http://schemas.openxmlformats.org/officeDocument/2006/relationships/notesSlide" Target="/ppt/notesSlides/notesSlide15.xml" Id="R1a7c4dc8e41543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10817b6c4429d" /><Relationship Type="http://schemas.openxmlformats.org/officeDocument/2006/relationships/notesSlide" Target="/ppt/notesSlides/notesSlide16.xml" Id="R5636590029b9493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78c0afc324976" /><Relationship Type="http://schemas.openxmlformats.org/officeDocument/2006/relationships/notesSlide" Target="/ppt/notesSlides/notesSlide17.xml" Id="R3c465754174a41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07ff679844dff" /><Relationship Type="http://schemas.openxmlformats.org/officeDocument/2006/relationships/notesSlide" Target="/ppt/notesSlides/notesSlide18.xml" Id="R9e0632f693644a6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Остаток, шт.</c:v>
          </c:tx>
          <c:spPr>
            <a:solidFill xmlns:a="http://schemas.openxmlformats.org/drawingml/2006/main">
              <a:srgbClr val="087E7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2949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87E7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0AAA7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Товар A</c:v>
                </c:pt>
                <c:pt idx="1">
                  <c:v>Кандидат B</c:v>
                </c:pt>
                <c:pt idx="2">
                  <c:v>Кандидат C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2323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F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23238"/>
                    </a:solidFill>
                    <a:latin typeface="Arial"/>
                    <a:ea typeface="Arial"/>
                    <a:cs typeface="Arial"/>
                  </a:rPr>
                  <a:t>Штук на складе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2323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3F2EC"/>
        </a:solidFill>
      </c:spPr>
    </c:plotArea>
    <c:plotVisOnly val="1"/>
  </c:chart>
  <c:spPr>
    <a:solidFill xmlns:a="http://schemas.openxmlformats.org/drawingml/2006/main">
      <a:srgbClr val="F3F2EC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План тестов</c:v>
          </c:tx>
          <c:dPt>
            <c:idx val="0"/>
            <c:spPr>
              <a:solidFill xmlns:a="http://schemas.openxmlformats.org/drawingml/2006/main">
                <a:srgbClr val="087E73"/>
              </a:solidFill>
            </c:spPr>
          </c:dPt>
          <c:dPt>
            <c:idx val="1"/>
            <c:spPr>
              <a:solidFill xmlns:a="http://schemas.openxmlformats.org/drawingml/2006/main">
                <a:srgbClr val="95BDB2"/>
              </a:solidFill>
            </c:spPr>
          </c:dPt>
          <c:dPt>
            <c:idx val="2"/>
            <c:spPr>
              <a:solidFill xmlns:a="http://schemas.openxmlformats.org/drawingml/2006/main">
                <a:srgbClr val="D1EC87"/>
              </a:solidFill>
            </c:spPr>
          </c:dPt>
          <c:dPt>
            <c:idx val="3"/>
            <c:spPr>
              <a:solidFill xmlns:a="http://schemas.openxmlformats.org/drawingml/2006/main">
                <a:srgbClr val="123238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Data'!$A$2:$A$5</c:f>
              <c:strCache>
                <c:ptCount val="4"/>
                <c:pt idx="0">
                  <c:v>Каталог</c:v>
                </c:pt>
                <c:pt idx="1">
                  <c:v>Аналоги</c:v>
                </c:pt>
                <c:pt idx="2">
                  <c:v>Условия</c:v>
                </c:pt>
                <c:pt idx="3">
                  <c:v>Корзина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20</c:v>
                </c:pt>
                <c:pt idx="1">
                  <c:v>12</c:v>
                </c:pt>
                <c:pt idx="2">
                  <c:v>8</c:v>
                </c:pt>
                <c:pt idx="3">
                  <c:v>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23238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holeSize val="57"/>
      </c:doughnutChart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23238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3F2EC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25% без менеджера</c:v>
          </c:tx>
          <c:spPr>
            <a:ln xmlns:a="http://schemas.openxmlformats.org/drawingml/2006/main" w="28575">
              <a:solidFill>
                <a:srgbClr val="95BDB2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95BDB2"/>
              </a:solidFill>
            </c:spPr>
          </c:marker>
          <c:cat>
            <c:numRef>
              <c:f>'Chart Data'!$A$2:$A$5</c:f>
              <c:numCache>
                <c:formatCode>General</c:formatCode>
                <c:ptCount val="4"/>
                <c:pt idx="0">
                  <c:v>100</c:v>
                </c:pt>
                <c:pt idx="1">
                  <c:v>300</c:v>
                </c:pt>
                <c:pt idx="2">
                  <c:v>500</c:v>
                </c:pt>
                <c:pt idx="3">
                  <c:v>700</c:v>
                </c:pt>
              </c:numCache>
            </c:num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1.67</c:v>
                </c:pt>
                <c:pt idx="1">
                  <c:v>5</c:v>
                </c:pt>
                <c:pt idx="2">
                  <c:v>8.33</c:v>
                </c:pt>
                <c:pt idx="3">
                  <c:v>11.67</c:v>
                </c:pt>
              </c:numCache>
            </c:numRef>
          </c:val>
        </c:ser>
        <c:ser>
          <c:idx val="1"/>
          <c:order val="1"/>
          <c:tx>
            <c:v>50% без менеджера</c:v>
          </c:tx>
          <c:spPr>
            <a:ln xmlns:a="http://schemas.openxmlformats.org/drawingml/2006/main" w="38100">
              <a:solidFill>
                <a:srgbClr val="087E73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087E73"/>
              </a:solidFill>
            </c:spPr>
          </c:marker>
          <c:cat>
            <c:numRef>
              <c:f>'Chart Data'!$C$2:$C$5</c:f>
              <c:numCache>
                <c:formatCode>General</c:formatCode>
                <c:ptCount val="4"/>
                <c:pt idx="0">
                  <c:v>100</c:v>
                </c:pt>
                <c:pt idx="1">
                  <c:v>300</c:v>
                </c:pt>
                <c:pt idx="2">
                  <c:v>500</c:v>
                </c:pt>
                <c:pt idx="3">
                  <c:v>700</c:v>
                </c:pt>
              </c:numCache>
            </c:num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3.33</c:v>
                </c:pt>
                <c:pt idx="1">
                  <c:v>10</c:v>
                </c:pt>
                <c:pt idx="2">
                  <c:v>16.67</c:v>
                </c:pt>
                <c:pt idx="3">
                  <c:v>23.33</c:v>
                </c:pt>
              </c:numCache>
            </c:numRef>
          </c:val>
        </c:ser>
        <c:ser>
          <c:idx val="2"/>
          <c:order val="2"/>
          <c:tx>
            <c:v>75% без менеджера</c:v>
          </c:tx>
          <c:spPr>
            <a:ln xmlns:a="http://schemas.openxmlformats.org/drawingml/2006/main" w="28575">
              <a:solidFill>
                <a:srgbClr val="123238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123238"/>
              </a:solidFill>
            </c:spPr>
          </c:marker>
          <c:cat>
            <c:numRef>
              <c:f>'Chart Data'!$E$2:$E$5</c:f>
              <c:numCache>
                <c:formatCode>General</c:formatCode>
                <c:ptCount val="4"/>
                <c:pt idx="0">
                  <c:v>100</c:v>
                </c:pt>
                <c:pt idx="1">
                  <c:v>300</c:v>
                </c:pt>
                <c:pt idx="2">
                  <c:v>500</c:v>
                </c:pt>
                <c:pt idx="3">
                  <c:v>700</c:v>
                </c:pt>
              </c:numCache>
            </c:num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23238"/>
                    </a:solidFill>
                    <a:latin typeface="Arial"/>
                    <a:ea typeface="Arial"/>
                    <a:cs typeface="Arial"/>
                  </a:rPr>
                  <a:t>Вопросов за выбранный период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2323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5DF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123238"/>
                    </a:solidFill>
                    <a:latin typeface="Arial"/>
                    <a:ea typeface="Arial"/>
                    <a:cs typeface="Arial"/>
                  </a:rPr>
                  <a:t>Часов менеджера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23238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3F2EC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238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3F2EC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6a7fbff84423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CDA58-D330-45C6-A54D-C5C60F18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HACKALEM AI   /   ЭЛЕКТРОКОМПЛЕКТ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B2291-93F8-4576-8555-B094842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762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ИИ-консультант</a:t>
            </a:r>
          </a:p>
          <a:p xmlns:a="http://schemas.openxmlformats.org/drawingml/2006/main">
            <a:pPr>
              <a:defRPr sz="4800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для ekt.kz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B22B1-FC75-4D1E-ADE9-CA9389E1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71900"/>
            <a:ext cx="6334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Подбор по каталогу.</a:t>
            </a:r>
          </a:p>
          <a:p xmlns:a="http://schemas.openxmlformats.org/drawingml/2006/main">
            <a:pPr>
              <a:defRPr sz="2400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Покупка с подтверждением.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C4F48-ACAF-4B68-B2D1-A187585D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04837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1EC87"/>
                </a:solidFill>
                <a:latin typeface="Arial"/>
                <a:ea typeface="Arial"/>
                <a:cs typeface="Arial"/>
              </a:rPr>
              <a:t>Концепция решения и план 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4104148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D0589-3564-4C6B-ABDB-F8FBD970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ПРОБЛЕМА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F478E-31B1-4F22-AF78-7488111D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Где покупатель теряет время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2AF62-A4EC-4335-AA90-EEB96A03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Вопросы по каталогу задерживают решение о покупке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6AE16-0BD0-4102-B14D-00EE58F5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8174b21d745e9"/>
          <a:srcRect xmlns:a="http://schemas.openxmlformats.org/drawingml/2006/main" l="0" t="640" r="0" b="6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72225" y="2362200"/>
            <a:ext cx="5210175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C3F65-6B07-442F-8D76-4988CD63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Характеристики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BB3DC4-450B-4FE7-A997-70E5ED19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Подойдёт ли товар под задачу?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26C86-8A93-47A4-9044-58441F9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Наличие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E7E45-AC4A-4563-9522-56D4659C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Есть ли нужное количество?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0CCFC2-8108-44E7-BEFA-D47C9207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Замена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7FBC7-DA28-4EFC-B907-6F545664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Какой аналог можно рассмотреть?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ED435-E025-4D1B-8C1B-16C063B7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Покупка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F39A0-951A-4BF6-95A2-71180912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Как оплатить и получить заказ?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AE2C1-FC04-426C-BD90-1680550B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92455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Иллюстрация склада, созданная ИИ</a:t>
            </a:r>
          </a:p>
        </p:txBody>
      </p:sp>
    </p:spTree>
    <p:extLst>
      <p:ext uri="{BB962C8B-B14F-4D97-AF65-F5344CB8AC3E}">
        <p14:creationId xmlns:p14="http://schemas.microsoft.com/office/powerpoint/2010/main" val="1862982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B2F82-AC67-47C8-9270-5CA1EE76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ПРОДУКТ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BD02B-EAE7-421C-8072-9628CB0A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Каталог становится основой консультации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95BBC-85C3-443E-BD22-11C51E08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C8115-BEE1-44F7-9323-0B9A9029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54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Первый прототип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9CFB6-0E47-4672-BC1E-351448B7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581650" cy="2390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Поиск по артикулу и описанию</a:t>
            </a:r>
          </a:p>
          <a:p xmlns:a="http://schemas.openxmlformats.org/drawingml/2006/main">
            <a:pPr>
              <a:defRPr sz="21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Характеристики и сертификаты</a:t>
            </a:r>
          </a:p>
          <a:p xmlns:a="http://schemas.openxmlformats.org/drawingml/2006/main">
            <a:pPr>
              <a:defRPr sz="21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Остатки и подбор аналогов</a:t>
            </a:r>
          </a:p>
          <a:p xmlns:a="http://schemas.openxmlformats.org/drawingml/2006/main">
            <a:pPr>
              <a:defRPr sz="21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Условия покупки</a:t>
            </a:r>
          </a:p>
          <a:p xmlns:a="http://schemas.openxmlformats.org/drawingml/2006/main">
            <a:pPr>
              <a:defRPr sz="217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Подтверждение и корзина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74e674a004631"/>
          <a:srcRect xmlns:a="http://schemas.openxmlformats.org/drawingml/2006/main" l="0" t="581" r="0" b="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2181225"/>
            <a:ext cx="4914900" cy="3238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71BEE-21E0-481E-8E49-4905BC44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53402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Иллюстрация товаров, созданная 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B2414-9D45-48FE-9E62-66E1FDF6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E73"/>
                </a:solidFill>
                <a:latin typeface="Arial"/>
                <a:ea typeface="Arial"/>
                <a:cs typeface="Arial"/>
              </a:rPr>
              <a:t>Далее: фото и спецификации, казахский язык, передача менеджеру</a:t>
            </a:r>
          </a:p>
        </p:txBody>
      </p:sp>
    </p:spTree>
    <p:extLst>
      <p:ext uri="{BB962C8B-B14F-4D97-AF65-F5344CB8AC3E}">
        <p14:creationId xmlns:p14="http://schemas.microsoft.com/office/powerpoint/2010/main" val="11631322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EACAC-1480-4F25-888F-60BCBFD1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ПОЛЬЗОВАТЕЛЬСКИЙ СЦЕНАРИЙ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3A5CE-F0A6-4612-9FC9-DC64A191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Один диалог до готовой корзины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BB8F3-0F57-4057-B1AE-09337E0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Иллюстративный пример на синтетических товарах и ценах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86A74-E77D-4470-A072-4F9218E2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ECD34-D2BC-48F4-8C68-72617EBA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43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2686A"/>
                </a:solidFill>
                <a:latin typeface="Arial"/>
                <a:ea typeface="Arial"/>
                <a:cs typeface="Arial"/>
              </a:rPr>
              <a:t>Запрос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75478-73B0-4494-876E-3F7E332A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62200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Нужен товар A, 3 штуки. Есть в наличии?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2FD2A-2AAC-491C-B8F4-10853E8C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2543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2686A"/>
                </a:solidFill>
                <a:latin typeface="Arial"/>
                <a:ea typeface="Arial"/>
                <a:cs typeface="Arial"/>
              </a:rPr>
              <a:t>Подбор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3E35D-FC9B-41C0-802C-90D5C88B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5752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A нет. У B совпадают обязательные параметры.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На складе 5 шт. Отличается производитель.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DB12FC-2ABD-4E3B-96E0-CB621B19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543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5260B-3CF8-4F41-828D-CCD410EB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52850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B: 3 шт. × 2 000 ₸ = 6 000 ₸. Добавить?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EAE21-B401-48F2-971E-B80B8A6F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2543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Подтверждение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6A5F6-6455-4305-B985-33106670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481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Да, добавь B, 3 штуки.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44BAC-C15B-4160-A3E6-E83FC643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543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2686A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4A384-0F29-4A0E-8174-F5D75C7D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Добавлено 3 шт. Ссылка на актуальную корзину.</a:t>
            </a:r>
          </a:p>
        </p:txBody>
      </p:sp>
    </p:spTree>
    <p:extLst>
      <p:ext uri="{BB962C8B-B14F-4D97-AF65-F5344CB8AC3E}">
        <p14:creationId xmlns:p14="http://schemas.microsoft.com/office/powerpoint/2010/main" val="20956366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4495F5-68E5-4349-B09B-BA98B4E4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КАЧЕСТВО ОТВЕТА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CD6A8-87CA-49A0-A7EF-24403898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Поиск и доказательства для ответа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F9A2F-322C-4667-BE64-15107190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Предлагаемый алгоритм разделяет поиск кандидатов и проверку фактов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FEF9D-DE55-45A5-B072-6EA596E9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F9F02-3247-4241-9B2C-CE38B808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01  Понять запрос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D283D-6B8A-4CC0-97C5-42A306A8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Выделить артикул, категорию, параметры и количество.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При неоднозначности задать уточняющий вопрос.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1243B-FA4B-41F5-BAFD-08019059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02  Найти кандидатов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9707A-EC5D-4733-83F7-5A6B1A8F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1945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Точное совпадение артикула, затем текстовый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и семантический поиск по описаниям.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B5361-ABFA-4F7B-95E2-09D3181B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03  Проверить данные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F6E2F8-16CC-4AFC-B63B-4799637D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1480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Получить карточку товара, цену и остаток.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Сравнить обязательные параметры.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987BE-6231-4BAB-B40E-05DC6487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04  Сформировать ответ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B7E5A-8D9B-4E1C-B077-B6C46635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01015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Привести факты и ссылку на товар или сертификат.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Если данных нет, явно сообщить об этом.</a:t>
            </a:r>
          </a:p>
        </p:txBody>
      </p:sp>
    </p:spTree>
    <p:extLst>
      <p:ext uri="{BB962C8B-B14F-4D97-AF65-F5344CB8AC3E}">
        <p14:creationId xmlns:p14="http://schemas.microsoft.com/office/powerpoint/2010/main" val="14850945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6D8C2-68AB-4F98-94B7-BA2B8CEF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ОБЪЯСНИМОСТЬ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D3216-1DA4-4527-A2BA-0BD23EEE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Аналог должен пройти проверку параметров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28661-0DED-435F-915A-60535A19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Условный пример автоматического выключателя. Не инженерное заключение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46F52-41F8-43C4-A18F-CC1008E2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362200"/>
          <a:ext xmlns:a="http://schemas.openxmlformats.org/drawingml/2006/main" cx="1097280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81400"/>
                <a:gridCol w="2447925"/>
                <a:gridCol w="2457450"/>
                <a:gridCol w="2486025"/>
              </a:tblGrid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Критерий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Запрос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Кандидат B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Кандидат C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</a:tr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Полюса / ток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1P / 16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1P / 16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1P / 16 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Характеристика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Отключающая способность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Не менее 6 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6 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6 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Наличие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Нужно 3 шт.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5 шт.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9 шт.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5445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Предварительный вывод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Нужна проверка всех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обязательных полей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Проходит показанные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фильтры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Не проходит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 характеристике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10921-6B3D-42FA-BE83-5BD13414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E73"/>
                </a:solidFill>
                <a:latin typeface="Arial"/>
                <a:ea typeface="Arial"/>
                <a:cs typeface="Arial"/>
              </a:rPr>
              <a:t>До рекомендации: проверить напряжение, стандарт, монтаж и требования применения</a:t>
            </a:r>
          </a:p>
        </p:txBody>
      </p:sp>
    </p:spTree>
    <p:extLst>
      <p:ext uri="{BB962C8B-B14F-4D97-AF65-F5344CB8AC3E}">
        <p14:creationId xmlns:p14="http://schemas.microsoft.com/office/powerpoint/2010/main" val="1830273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C1C34-4CF8-4F1A-8D2F-BC258875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ГРАФИК 1  /  ПОДБОР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D69A7-7548-4931-9EE6-B71EEEDC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Наличие дополняет проверку совместимости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FAF93-AA51-496A-A02F-4FF23AF7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Синтетический пример из сравнения аналогов. Запрос клиента: 3 штуки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1F0DB-EC7F-410B-927B-0E87C4AC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09600" y="2457450"/>
          <a:ext xmlns:a="http://schemas.openxmlformats.org/drawingml/2006/main" cx="762000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f5c74c91c9494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A32DC-D61E-4132-B1A6-9F8A8F81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6765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B: хватает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B5EA7-3EFE-460D-9011-7D6EBEEC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38500"/>
            <a:ext cx="285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5 шт. в наличии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при запросе 3 шт.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803E4-B2B5-458F-BDE1-BB5AD576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28625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C: не подходит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542EA-9B26-4B73-9739-434AB8B7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848225"/>
            <a:ext cx="285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Большой остаток</a:t>
            </a:r>
          </a:p>
          <a:p xmlns:a="http://schemas.openxmlformats.org/drawingml/2006/main">
            <a:pPr>
              <a:defRPr sz="1950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не компенсирует</a:t>
            </a:r>
          </a:p>
          <a:p xmlns:a="http://schemas.openxmlformats.org/drawingml/2006/main">
            <a:pPr>
              <a:defRPr sz="1950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отличие параметра</a:t>
            </a:r>
          </a:p>
        </p:txBody>
      </p:sp>
    </p:spTree>
    <p:extLst>
      <p:ext uri="{BB962C8B-B14F-4D97-AF65-F5344CB8AC3E}">
        <p14:creationId xmlns:p14="http://schemas.microsoft.com/office/powerpoint/2010/main" val="1386207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1EDAB-A694-4E09-80F5-26990A30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ТЕХНИЧЕСКОЕ РЕШЕНИЕ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F466F-1D8D-4F25-94E6-34B1C35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Архитектура с отдельным контролем действий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E4A9A-FB40-45FE-94D0-B72761B0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Предлагаемая структура. Конкретный стек выбираем после проверки интеграции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C4BED-3AA5-48D3-BE91-EC7AAE98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362200"/>
          <a:ext xmlns:a="http://schemas.openxmlformats.org/drawingml/2006/main" cx="10972800" cy="3114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90775"/>
                <a:gridCol w="4295775"/>
                <a:gridCol w="4286250"/>
              </a:tblGrid>
              <a:tr h="62293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Слой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Ответственность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Интерфейс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Клиент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Чат и контекст пользователя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Текст, вложения, подтверждение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Сервис ассистента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План ответа и вызов инструментов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Поиск, карточка, условия покупки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Слой данных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Каталог, индекс поиска, база знаний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Актуальные поля и источники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Сервис действий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сессии и бизнес-правил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Предложение, подтверждение, корзина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B5E94-094D-4206-AB8D-D361462E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Модель предлагает действие. Сервер проверяет право и условия выполнения</a:t>
            </a:r>
          </a:p>
        </p:txBody>
      </p:sp>
    </p:spTree>
    <p:extLst>
      <p:ext uri="{BB962C8B-B14F-4D97-AF65-F5344CB8AC3E}">
        <p14:creationId xmlns:p14="http://schemas.microsoft.com/office/powerpoint/2010/main" val="911802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29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4A8F52-24D6-4222-AD55-B5AC96B1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КОНТРОЛЬ КОРЗИНЫ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B3625-6C89-4618-8A19-945299DF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Подтверждение привязано к предложению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D7D75-DF75-45FB-BBD2-AC9D4230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1EC8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B753F-03DC-4B7F-8E8A-0AF0B5B6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809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AEB74-F4A5-4103-9C62-803265FC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33600"/>
            <a:ext cx="3171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292D3-54EE-46AB-BDB8-919546AA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6172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Фиксируем товар, склад, количество и цену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91E84-4E71-44F9-BFC9-CF2936DA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809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ED2CB-E5EB-42F9-A7C3-C44042F0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3171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Согласие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F0400-A284-40BE-BEA9-6BFE97AD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6172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Связываем явный ответ с сессией и предложением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CBDAB-8A68-4946-BBA5-972498D4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809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BC4FF-045D-41BC-8B6F-16E089A0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48100"/>
            <a:ext cx="3171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60121-A2F5-4121-80E2-96E5F668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48100"/>
            <a:ext cx="6172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Повторно проверяем условия перед записью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FEB389-F362-46EC-9A5A-AE26E108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809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933363-B91C-4EBE-B99B-70AC8525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05350"/>
            <a:ext cx="3171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78961-1904-4270-A821-10FC299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05350"/>
            <a:ext cx="61722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Добавляем один раз и возвращаем ссылку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BFD74B-118E-4A3D-B797-F003D4B4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1EC87"/>
                </a:solidFill>
                <a:latin typeface="Arial"/>
                <a:ea typeface="Arial"/>
                <a:cs typeface="Arial"/>
              </a:rPr>
              <a:t>Изменились цена или остаток? Требуется новое подтверждение</a:t>
            </a:r>
          </a:p>
        </p:txBody>
      </p:sp>
    </p:spTree>
    <p:extLst>
      <p:ext uri="{BB962C8B-B14F-4D97-AF65-F5344CB8AC3E}">
        <p14:creationId xmlns:p14="http://schemas.microsoft.com/office/powerpoint/2010/main" val="20957506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96A72-5268-42E7-8AB3-1E16D36E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РАСШИРЕНИЕ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22C6E-9E28-4C74-89F1-4730A643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Фото и спецификации становятся списком позиций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3A8A39-3049-4E0D-9E2C-55199FAD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План следующей итерации для PDF, Excel, Word и JPEG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A43D9-0F1A-4720-9C77-C611A1CB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4B396B-71DF-47AD-9DEB-7CA9381B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Извлечение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7002D-4006-442F-9B52-B7408F49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Разобрать строки таблиц и текст. Для фото и сканов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распознать маркировку с помощью OCR.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573BA-C29C-4516-A729-6A501D94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Нормализация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B9E92-7F09-44DE-BDD8-1760D04C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099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Выделить единицы измерения, артикулы и количество.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Сохранить страницу или строку исходного файла.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37F2D-DC03-4E4D-BF9F-AC689F52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Сопоставление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CC54D-E180-4CC9-9FE0-7BDB7C6F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9575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Найти товары в каталоге. Неоднозначные совпадения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показать клиенту для проверки.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7F6E7-8C36-41F6-9E08-5EABCD66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Согласование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27BA8-A962-4793-9B73-0121C235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98157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Сформировать список с ценами и наличием.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Получить подтверждение перед изменением корзины.</a:t>
            </a:r>
          </a:p>
        </p:txBody>
      </p:sp>
    </p:spTree>
    <p:extLst>
      <p:ext uri="{BB962C8B-B14F-4D97-AF65-F5344CB8AC3E}">
        <p14:creationId xmlns:p14="http://schemas.microsoft.com/office/powerpoint/2010/main" val="9606132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FAE32-A34C-4841-A565-30D179F7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ПРИЁМКА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875EA-149A-4638-8EEB-9CEE6335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Измерим качество до запуска пилота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3A346-9784-425D-BFC2-2FD0FA62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Предлагаемые критерии и измерения. Результатов испытаний пока нет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88E57-3304-4AFD-A1D0-A199B530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362200"/>
          <a:ext xmlns:a="http://schemas.openxmlformats.org/drawingml/2006/main" cx="10972800" cy="3324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52700"/>
                <a:gridCol w="4419600"/>
                <a:gridCol w="4000500"/>
              </a:tblGrid>
              <a:tr h="66484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Проверка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Как измерять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Критерий / ориентир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Факты о товаре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Сравнение ответа с эталоном API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Совпадение проверяемых полей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Безопасность корзины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Запросы без согласия и повторы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0 неразрешённых изменений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и повторных добавлений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Подбор аналога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Разметка экспертом по категории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Все обязательные параметры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проверены или уточнены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Скорость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p50 и p95 полного ответа под нагрузкой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Единицы секунд по кейсу</a:t>
                      </a:r>
                    </a:p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Точный порог согласовать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D9F42-706D-47C9-AD6C-EA2B38E5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E73"/>
                </a:solidFill>
                <a:latin typeface="Arial"/>
                <a:ea typeface="Arial"/>
                <a:cs typeface="Arial"/>
              </a:rPr>
              <a:t>После запуска: доля обращений без менеджера и переходы из чата в корзину</a:t>
            </a:r>
          </a:p>
        </p:txBody>
      </p:sp>
    </p:spTree>
    <p:extLst>
      <p:ext uri="{BB962C8B-B14F-4D97-AF65-F5344CB8AC3E}">
        <p14:creationId xmlns:p14="http://schemas.microsoft.com/office/powerpoint/2010/main" val="11566277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184B8D-1E39-4E08-9C66-7BFC0D38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ГРАФИК 2  /  ТЕСТОВЫЙ НАБОР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46D28-C0A6-4355-A577-DEF76B54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План тестирования охватывает 60 сценариев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9C1BF-67AA-4DF6-AEEE-11C566CE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Предлагаемое распределение тестов. Проверки ещё не выполнены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B2919-203F-4B37-AFD7-570A1E16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66750" y="2447925"/>
          <a:ext xmlns:a="http://schemas.openxmlformats.org/drawingml/2006/main" cx="59245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091d1bb477440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F14CB-4A15-411B-A582-EBC77D7E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28875"/>
            <a:ext cx="809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48743-DD88-45D4-B57C-C3FBF135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3400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Каталог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07676-DFB4-4CD3-8F3E-D5F12843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809875"/>
            <a:ext cx="34004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Артикулы, факты и сертификаты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4C125-0687-4C3C-AD8D-B787300A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286125"/>
            <a:ext cx="809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6185E-185E-432F-89F9-B535A72F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3400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Аналоги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9BD0E-C775-42B4-BD2B-82B52225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67125"/>
            <a:ext cx="34004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Совместимость и неполные поля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325A5-52DD-4B88-81DA-A42B5FB4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43375"/>
            <a:ext cx="809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9E793-A6D6-4DD1-97B8-56FE5724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3400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Условия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EAD16-59F4-41C1-954E-FCDFB835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24375"/>
            <a:ext cx="34004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Оплата, доставка, партия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BABA9-E425-4093-8442-00A9BD32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000625"/>
            <a:ext cx="809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958B6-90FB-4620-AC46-89BE16F3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00625"/>
            <a:ext cx="3400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Корзина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EFE8C-6CCE-4749-99BB-D96CF0B3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381625"/>
            <a:ext cx="34004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Согласие, повторы, изменение условий</a:t>
            </a:r>
          </a:p>
        </p:txBody>
      </p:sp>
    </p:spTree>
    <p:extLst>
      <p:ext uri="{BB962C8B-B14F-4D97-AF65-F5344CB8AC3E}">
        <p14:creationId xmlns:p14="http://schemas.microsoft.com/office/powerpoint/2010/main" val="10443823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CA07B6-889E-4DC4-A0D2-7049AB31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РЕАЛИЗАЦИЯ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8E80E-938A-4496-A459-88F2FD28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План реализации с проверками на каждом этапе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FF504-504D-4EA1-8721-02003C1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0E539-EF8C-4AAF-9CC8-0B93137B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Этап 1  Данные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1CB9B5-E685-4B01-BEC3-5932A2D2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812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Проверить API и поля. Подготовить выборку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с сертификатами, нулевыми остатками и аналогами.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BE91D1-83AF-4F1A-914F-D1413746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Этап 2  Консультация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A14BF5-EC42-489C-86C4-49E89074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Поиск и ответы по источникам. Согласовать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обязательные параметры и базу условий покупки.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4A819-023C-4D88-9ABB-F32AD7D5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Этап 3  Корзина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60965-31A5-4FCD-9948-BAD9F39C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100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Предложения, подтверждение и защита от повторов.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Тестовая корзина до получения методов интеграции.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FA642-2BF0-4014-88C9-F2C88EA7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Этап 4  Пилот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9605C-6764-4815-92F6-4925DF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9244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Пройти приёмку, подключить ограниченный трафик.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Измерить качество, задержку и нагрузку на менеджеров.</a:t>
            </a:r>
          </a:p>
        </p:txBody>
      </p:sp>
    </p:spTree>
    <p:extLst>
      <p:ext uri="{BB962C8B-B14F-4D97-AF65-F5344CB8AC3E}">
        <p14:creationId xmlns:p14="http://schemas.microsoft.com/office/powerpoint/2010/main" val="13432149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2B8D6E-6400-435D-8824-18215410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ГРАФИК 3  /  МОДЕЛЬ ЭФФЕКТА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EC9FF-FF7D-482F-9773-1BA431E7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Модель экономии времени менеджера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0D0F2-A4AE-4583-B1DB-46E24A84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Сценарный расчёт, не прогноз. Допущение: 4 минуты менеджера на один вопрос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271B59-CF7B-4720-A92A-6CE2261A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19125" y="2562225"/>
          <a:ext xmlns:a="http://schemas.openxmlformats.org/drawingml/2006/main" cx="80200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ede34b5cc64fe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6755F-94AE-48BA-B9F2-5A69BA7B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16,7 часа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DDA79-B6E2-4F27-B42E-B6BD34DC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76625"/>
            <a:ext cx="2543175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При 500 вопросах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и доле 50%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без менеджера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D7BC9-91D4-4CB3-B77C-B0770BBE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10150"/>
            <a:ext cx="25431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Расчёт не учитывает</a:t>
            </a:r>
          </a:p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проверку ответов</a:t>
            </a:r>
          </a:p>
          <a:p xmlns:a="http://schemas.openxmlformats.org/drawingml/2006/main">
            <a:pPr>
              <a:defRPr sz="1650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и сопровождение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4E8A5-5DC4-46B8-B968-AC8538CF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0552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E73"/>
                </a:solidFill>
                <a:latin typeface="Arial"/>
                <a:ea typeface="Arial"/>
                <a:cs typeface="Arial"/>
              </a:rPr>
              <a:t>Формула: вопросы × доля без менеджера × 4 минуты ÷ 60</a:t>
            </a:r>
          </a:p>
        </p:txBody>
      </p:sp>
    </p:spTree>
    <p:extLst>
      <p:ext uri="{BB962C8B-B14F-4D97-AF65-F5344CB8AC3E}">
        <p14:creationId xmlns:p14="http://schemas.microsoft.com/office/powerpoint/2010/main" val="11245975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29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85DDA-D69B-44A2-8297-3D414629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ПРЕДЛОЖЕНИЕ ПАРТНЁРУ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6714E-0E63-49FB-991E-553DAA30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Пилот проверит пользу для клиента и бизнеса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48DE8-AA15-4CEC-8D11-EC1584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1EC8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5CF959-C5B3-49AA-A07D-9D6800D4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7632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Точный ответ.</a:t>
            </a:r>
          </a:p>
          <a:p xmlns:a="http://schemas.openxmlformats.org/drawingml/2006/main">
            <a:pPr>
              <a:defRPr sz="367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Обоснованный подбор.</a:t>
            </a:r>
          </a:p>
          <a:p xmlns:a="http://schemas.openxmlformats.org/drawingml/2006/main">
            <a:pPr>
              <a:defRPr sz="3675" b="1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8F8F1"/>
                </a:solidFill>
                <a:latin typeface="Arial"/>
                <a:ea typeface="Arial"/>
                <a:cs typeface="Arial"/>
              </a:rPr>
              <a:t>Контролируемая покупка.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69412-91C3-45A3-A983-1A1602F6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52975"/>
            <a:ext cx="3648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1EC8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1EC87"/>
                </a:solidFill>
                <a:latin typeface="Arial"/>
                <a:ea typeface="Arial"/>
                <a:cs typeface="Arial"/>
              </a:rPr>
              <a:t>Для старта нужны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2E0E4-4FA9-4C55-8DF6-750D2B8D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25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Проверенный каталог и остатки, API корзины,</a:t>
            </a:r>
          </a:p>
          <a:p xmlns:a="http://schemas.openxmlformats.org/drawingml/2006/main">
            <a:pPr>
              <a:defRPr sz="2100" b="0">
                <a:solidFill>
                  <a:srgbClr val="F8F8F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8F1"/>
                </a:solidFill>
                <a:latin typeface="Arial"/>
                <a:ea typeface="Arial"/>
                <a:cs typeface="Arial"/>
              </a:rPr>
              <a:t>утверждённые условия покупки и эксперт по аналогам</a:t>
            </a:r>
          </a:p>
        </p:txBody>
      </p:sp>
    </p:spTree>
    <p:extLst>
      <p:ext uri="{BB962C8B-B14F-4D97-AF65-F5344CB8AC3E}">
        <p14:creationId xmlns:p14="http://schemas.microsoft.com/office/powerpoint/2010/main" val="13909735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E0AD9-4721-45EA-911E-49367F5D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ПРИЛОЖЕНИЕ A  /  ИНТЕГРАЦИЯ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4EC9C-2274-4D76-8B34-AE3561D1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Контракт данных и доступные API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B8FA1-FBF2-4525-96CB-29F897F0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В документах приведены адреса. Доступность и схему ответов ещё нужно проверить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482AE-0C48-4602-BF35-347C885E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DD107-5A45-4978-81AE-80FABE15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8966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GET /api/products?page=2</a:t>
            </a:r>
          </a:p>
          <a:p xmlns:a="http://schemas.openxmlformats.org/drawingml/2006/main">
            <a:pPr>
              <a:defRPr sz="2400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GET /api/products/detail?id=515291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3638550"/>
          <a:ext xmlns:a="http://schemas.openxmlformats.org/drawingml/2006/main" cx="10972800" cy="2133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09825"/>
                <a:gridCol w="4581525"/>
                <a:gridCol w="3981450"/>
              </a:tblGrid>
              <a:tr h="5334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Объект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Нужные поля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Что уточнить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Товар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ID, артикул, категория, параметры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Единицы, полнота, нормализация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Предложение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Цена, валюта, склад, остаток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Свежесть, единица продажи, НДС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Подтверждающие данные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Сертификат, ссылка, источник условий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Доступность и актуальность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CBDD4-2B8B-4D38-BC4A-66B49B48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81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Basic Auth только на сервере. Методы корзины в материалах отсутствуют</a:t>
            </a:r>
          </a:p>
        </p:txBody>
      </p:sp>
    </p:spTree>
    <p:extLst>
      <p:ext uri="{BB962C8B-B14F-4D97-AF65-F5344CB8AC3E}">
        <p14:creationId xmlns:p14="http://schemas.microsoft.com/office/powerpoint/2010/main" val="15175964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CA612-19A2-495A-85FC-BB70B08D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ПРИЛОЖЕНИЕ B  /  НАДЁЖНОСТЬ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3AEFA-6DF4-414C-96F0-019309BE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Ошибки и попытки обойти подтверждение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56753-4952-4F8F-9172-7FD47E95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2124075"/>
          <a:ext xmlns:a="http://schemas.openxmlformats.org/drawingml/2006/main" cx="10972800" cy="3562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67075"/>
                <a:gridCol w="4514850"/>
                <a:gridCol w="3190875"/>
              </a:tblGrid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Ситуация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Поведение системы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8F8F1"/>
                          </a:solidFill>
                          <a:latin typeface="Arial"/>
                          <a:ea typeface="Arial"/>
                          <a:cs typeface="Arial"/>
                        </a:rPr>
                        <a:t>Проверка</a:t>
                      </a:r>
                    </a:p>
                  </a:txBody>
                  <a:tcPr marL="91440" marR="91440" marT="45720" marB="45720">
                    <a:solidFill>
                      <a:srgbClr val="123238"/>
                    </a:solidFill>
                  </a:tcPr>
                </a:tc>
              </a:tr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API недоступен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Сообщить о сбое, не обещать наличие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Имитация таймаута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Остаток или цена изменились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Обновить предложение и запросить согласие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Изменение данных перед записью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Повторный запрос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Вернуть результат той же операции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Двойной клик и повтор доставки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Команда внутри файла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Считать её данными, не исполнять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Файл с инструкцией изменить корзину</a:t>
                      </a:r>
                    </a:p>
                  </a:txBody>
                  <a:tcPr marL="91440" marR="91440" marT="45720" marB="45720">
                    <a:solidFill>
                      <a:srgbClr val="E9EDE5"/>
                    </a:solidFill>
                  </a:tcPr>
                </a:tc>
              </a:tr>
              <a:tr h="5937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Чужая сессия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Отклонить подтверждение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23238"/>
                          </a:solidFill>
                          <a:latin typeface="Arial"/>
                          <a:ea typeface="Arial"/>
                          <a:cs typeface="Arial"/>
                        </a:rPr>
                        <a:t>Повтор токена в другой сессии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6248B-441D-499E-8F95-0AC19814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0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E73"/>
                </a:solidFill>
                <a:latin typeface="Arial"/>
                <a:ea typeface="Arial"/>
                <a:cs typeface="Arial"/>
              </a:rPr>
              <a:t>Минимизация персональных данных, ограничение хранения, отсутствие платёжных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15459713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1773D-229E-465C-A56A-59CB2CF4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ПРИЛОЖЕНИЕ C  /  СЦЕНАРИЙ ПОКАЗА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F3C1F-4417-474E-9DE6-15D79992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23238"/>
                </a:solidFill>
                <a:latin typeface="Arial"/>
                <a:ea typeface="Arial"/>
                <a:cs typeface="Arial"/>
              </a:rPr>
              <a:t>Воспроизводимая демонстрация для жюри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6F23C-BAAA-427E-9CA5-08CBE21A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Каждый шаг проверяет отдельное требование кейса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54B66-BDDF-4BA9-A5CD-D9BB7AF0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86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6D6AA-C4E2-414D-A68F-753FC4A6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1  Данные товара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E7065-222D-4311-93ED-8D332262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5267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Запрос по артикулу. Сверка характеристик,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остатка и сертификата с эталоном.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C2608-B6B8-4BB1-8E03-5DBE8F9C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2  Аналоги и условия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72F79-E945-4DAB-B912-348FFA94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1945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Запрос по отсутствующей позиции. Обоснование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замены и ответ об оплате или доставке.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07C63-4D41-4061-90B5-8A823AF1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3  Контроль действия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99427-CF06-4DBE-8E3F-4CC919DA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86225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Предложение без согласия не меняет корзину.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Явное согласие добавляет допустимое количество.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14B24-09F0-4BE2-9C10-AD632457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E7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E73"/>
                </a:solidFill>
                <a:latin typeface="Arial"/>
                <a:ea typeface="Arial"/>
                <a:cs typeface="Arial"/>
              </a:rPr>
              <a:t>4  Проверка результата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12B56-CA19-4678-9134-14551623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953000"/>
            <a:ext cx="731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Ссылка открывает актуальную корзину.</a:t>
            </a:r>
          </a:p>
          <a:p xmlns:a="http://schemas.openxmlformats.org/drawingml/2006/main">
            <a:pPr>
              <a:defRPr sz="2025" b="0">
                <a:solidFill>
                  <a:srgbClr val="12323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3238"/>
                </a:solidFill>
                <a:latin typeface="Arial"/>
                <a:ea typeface="Arial"/>
                <a:cs typeface="Arial"/>
              </a:rPr>
              <a:t>Повтор запроса не создаёт дубль.</a:t>
            </a:r>
          </a:p>
        </p:txBody>
      </p:sp>
    </p:spTree>
    <p:extLst>
      <p:ext uri="{BB962C8B-B14F-4D97-AF65-F5344CB8AC3E}">
        <p14:creationId xmlns:p14="http://schemas.microsoft.com/office/powerpoint/2010/main" val="634314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2026-09-23T09:22:24.1970000Z</dcterms:created>
  <dcterms:modified xsi:type="dcterms:W3CDTF">2026-09-23T09:22:24.1970000Z</dcterms:modified>
</coreProperties>
</file>