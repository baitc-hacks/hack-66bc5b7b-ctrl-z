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6827c5e6344647" /><Relationship Type="http://schemas.openxmlformats.org/officeDocument/2006/relationships/extended-properties" Target="/docProps/app.xml" Id="R2091878e61d54202" /><Relationship Type="http://schemas.openxmlformats.org/officeDocument/2006/relationships/officeDocument" Target="/ppt/presentation.xml" Id="R958e6fda1f9942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cb99473cb34d04"/>
  </p:sldMasterIdLst>
  <p:notesMasterIdLst>
    <p:notesMasterId xmlns:r="http://schemas.openxmlformats.org/officeDocument/2006/relationships" r:id="Rcef0d587f6db437f"/>
  </p:notesMasterIdLst>
  <p:sldIdLst>
    <p:sldId xmlns:r="http://schemas.openxmlformats.org/officeDocument/2006/relationships" id="256" r:id="R26de30c94b064166"/>
    <p:sldId xmlns:r="http://schemas.openxmlformats.org/officeDocument/2006/relationships" id="257" r:id="R706af8663e59425b"/>
    <p:sldId xmlns:r="http://schemas.openxmlformats.org/officeDocument/2006/relationships" id="258" r:id="Re9b30fa110b242dc"/>
    <p:sldId xmlns:r="http://schemas.openxmlformats.org/officeDocument/2006/relationships" id="259" r:id="R0a09bcecb5ee41ae"/>
    <p:sldId xmlns:r="http://schemas.openxmlformats.org/officeDocument/2006/relationships" id="260" r:id="R297da9cc32f64dd5"/>
    <p:sldId xmlns:r="http://schemas.openxmlformats.org/officeDocument/2006/relationships" id="261" r:id="R4eda80eae8ec49ae"/>
    <p:sldId xmlns:r="http://schemas.openxmlformats.org/officeDocument/2006/relationships" id="262" r:id="R34b98fb1e75b4eda"/>
    <p:sldId xmlns:r="http://schemas.openxmlformats.org/officeDocument/2006/relationships" id="263" r:id="R8543f7dc64c94054"/>
    <p:sldId xmlns:r="http://schemas.openxmlformats.org/officeDocument/2006/relationships" id="264" r:id="Rece1c4f68f064d3b"/>
    <p:sldId xmlns:r="http://schemas.openxmlformats.org/officeDocument/2006/relationships" id="265" r:id="Refaea27bc6f9427c"/>
    <p:sldId xmlns:r="http://schemas.openxmlformats.org/officeDocument/2006/relationships" id="266" r:id="Re61103c08c384f80"/>
    <p:sldId xmlns:r="http://schemas.openxmlformats.org/officeDocument/2006/relationships" id="267" r:id="R3db8a223c0a848f2"/>
    <p:sldId xmlns:r="http://schemas.openxmlformats.org/officeDocument/2006/relationships" id="268" r:id="R4c3e584e54074f06"/>
    <p:sldId xmlns:r="http://schemas.openxmlformats.org/officeDocument/2006/relationships" id="269" r:id="R2715610b4eec41a4"/>
    <p:sldId xmlns:r="http://schemas.openxmlformats.org/officeDocument/2006/relationships" id="270" r:id="R3b07fc6790504a63"/>
    <p:sldId xmlns:r="http://schemas.openxmlformats.org/officeDocument/2006/relationships" id="271" r:id="Re697c95d0ace42eb"/>
    <p:sldId xmlns:r="http://schemas.openxmlformats.org/officeDocument/2006/relationships" id="272" r:id="R13fb6beebae845d3"/>
    <p:sldId xmlns:r="http://schemas.openxmlformats.org/officeDocument/2006/relationships" id="273" r:id="R31fd682714c84371"/>
    <p:sldId xmlns:r="http://schemas.openxmlformats.org/officeDocument/2006/relationships" id="274" r:id="R6b305fce2a2b4c52"/>
    <p:sldId xmlns:r="http://schemas.openxmlformats.org/officeDocument/2006/relationships" id="275" r:id="R7be5b5b0c04f485f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5f9ee5fe384c83" /><Relationship Type="http://schemas.openxmlformats.org/officeDocument/2006/relationships/slideMaster" Target="/ppt/slideMasters/slideMaster1.xml" Id="R06cb99473cb34d04" /><Relationship Type="http://schemas.openxmlformats.org/officeDocument/2006/relationships/notesMaster" Target="/ppt/notesMasters/notesMaster1.xml" Id="Rcef0d587f6db437f" /><Relationship Type="http://schemas.openxmlformats.org/officeDocument/2006/relationships/presProps" Target="/ppt/presProps.xml" Id="R9468a9a762464079" /><Relationship Type="http://schemas.openxmlformats.org/officeDocument/2006/relationships/tableStyles" Target="/ppt/tableStyles.xml" Id="Rdbdf658d7ac64b04" /><Relationship Type="http://schemas.openxmlformats.org/officeDocument/2006/relationships/slide" Target="/ppt/slides/slide1.xml" Id="R26de30c94b064166" /><Relationship Type="http://schemas.openxmlformats.org/officeDocument/2006/relationships/slide" Target="/ppt/slides/slide2.xml" Id="R706af8663e59425b" /><Relationship Type="http://schemas.openxmlformats.org/officeDocument/2006/relationships/slide" Target="/ppt/slides/slide3.xml" Id="Re9b30fa110b242dc" /><Relationship Type="http://schemas.openxmlformats.org/officeDocument/2006/relationships/slide" Target="/ppt/slides/slide4.xml" Id="R0a09bcecb5ee41ae" /><Relationship Type="http://schemas.openxmlformats.org/officeDocument/2006/relationships/slide" Target="/ppt/slides/slide5.xml" Id="R297da9cc32f64dd5" /><Relationship Type="http://schemas.openxmlformats.org/officeDocument/2006/relationships/slide" Target="/ppt/slides/slide6.xml" Id="R4eda80eae8ec49ae" /><Relationship Type="http://schemas.openxmlformats.org/officeDocument/2006/relationships/slide" Target="/ppt/slides/slide7.xml" Id="R34b98fb1e75b4eda" /><Relationship Type="http://schemas.openxmlformats.org/officeDocument/2006/relationships/slide" Target="/ppt/slides/slide8.xml" Id="R8543f7dc64c94054" /><Relationship Type="http://schemas.openxmlformats.org/officeDocument/2006/relationships/slide" Target="/ppt/slides/slide9.xml" Id="Rece1c4f68f064d3b" /><Relationship Type="http://schemas.openxmlformats.org/officeDocument/2006/relationships/slide" Target="/ppt/slides/slide10.xml" Id="Refaea27bc6f9427c" /><Relationship Type="http://schemas.openxmlformats.org/officeDocument/2006/relationships/slide" Target="/ppt/slides/slide11.xml" Id="Re61103c08c384f80" /><Relationship Type="http://schemas.openxmlformats.org/officeDocument/2006/relationships/slide" Target="/ppt/slides/slide12.xml" Id="R3db8a223c0a848f2" /><Relationship Type="http://schemas.openxmlformats.org/officeDocument/2006/relationships/slide" Target="/ppt/slides/slide13.xml" Id="R4c3e584e54074f06" /><Relationship Type="http://schemas.openxmlformats.org/officeDocument/2006/relationships/slide" Target="/ppt/slides/slide14.xml" Id="R2715610b4eec41a4" /><Relationship Type="http://schemas.openxmlformats.org/officeDocument/2006/relationships/slide" Target="/ppt/slides/slide15.xml" Id="R3b07fc6790504a63" /><Relationship Type="http://schemas.openxmlformats.org/officeDocument/2006/relationships/slide" Target="/ppt/slides/slide16.xml" Id="Re697c95d0ace42eb" /><Relationship Type="http://schemas.openxmlformats.org/officeDocument/2006/relationships/slide" Target="/ppt/slides/slide17.xml" Id="R13fb6beebae845d3" /><Relationship Type="http://schemas.openxmlformats.org/officeDocument/2006/relationships/slide" Target="/ppt/slides/slide18.xml" Id="R31fd682714c84371" /><Relationship Type="http://schemas.openxmlformats.org/officeDocument/2006/relationships/slide" Target="/ppt/slides/slide19.xml" Id="R6b305fce2a2b4c52" /><Relationship Type="http://schemas.openxmlformats.org/officeDocument/2006/relationships/slide" Target="/ppt/slides/slide20.xml" Id="R7be5b5b0c04f48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40ef56b84145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8176f75d614795" /><Relationship Type="http://schemas.openxmlformats.org/officeDocument/2006/relationships/notesMaster" Target="/ppt/notesMasters/notesMaster1.xml" Id="Rff0725f9e3a64a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5e6d9bef2c4b97" /><Relationship Type="http://schemas.openxmlformats.org/officeDocument/2006/relationships/notesMaster" Target="/ppt/notesMasters/notesMaster1.xml" Id="R23582b1cfcfd44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3d27f43598490d" /><Relationship Type="http://schemas.openxmlformats.org/officeDocument/2006/relationships/notesMaster" Target="/ppt/notesMasters/notesMaster1.xml" Id="R1f62efff5c2c4b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cf429dd7da4a9c" /><Relationship Type="http://schemas.openxmlformats.org/officeDocument/2006/relationships/notesMaster" Target="/ppt/notesMasters/notesMaster1.xml" Id="R863ab865ce344c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675a24d5cd496a" /><Relationship Type="http://schemas.openxmlformats.org/officeDocument/2006/relationships/notesMaster" Target="/ppt/notesMasters/notesMaster1.xml" Id="Rd3d2a7bf011945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2cc697f7424fe5" /><Relationship Type="http://schemas.openxmlformats.org/officeDocument/2006/relationships/notesMaster" Target="/ppt/notesMasters/notesMaster1.xml" Id="Ra70154b90aab48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f34838c5494c03" /><Relationship Type="http://schemas.openxmlformats.org/officeDocument/2006/relationships/notesMaster" Target="/ppt/notesMasters/notesMaster1.xml" Id="Rfec7cf6207c34a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dc6d8f8314471d" /><Relationship Type="http://schemas.openxmlformats.org/officeDocument/2006/relationships/notesMaster" Target="/ppt/notesMasters/notesMaster1.xml" Id="Rba12d360bb824b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23755453944e2d" /><Relationship Type="http://schemas.openxmlformats.org/officeDocument/2006/relationships/notesMaster" Target="/ppt/notesMasters/notesMaster1.xml" Id="Ra8a307d9eafd46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4b05cd564743ae" /><Relationship Type="http://schemas.openxmlformats.org/officeDocument/2006/relationships/notesMaster" Target="/ppt/notesMasters/notesMaster1.xml" Id="R350d1cb860c84a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90e3a599338421c" /><Relationship Type="http://schemas.openxmlformats.org/officeDocument/2006/relationships/notesMaster" Target="/ppt/notesMasters/notesMaster1.xml" Id="R64818619041d462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907fa0c55df489e" /><Relationship Type="http://schemas.openxmlformats.org/officeDocument/2006/relationships/notesMaster" Target="/ppt/notesMasters/notesMaster1.xml" Id="Ra837c036e14e4a0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2d20468995e4c1a" /><Relationship Type="http://schemas.openxmlformats.org/officeDocument/2006/relationships/notesMaster" Target="/ppt/notesMasters/notesMaster1.xml" Id="Rb0998c56f5cf4f6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dc555e3086042b2" /><Relationship Type="http://schemas.openxmlformats.org/officeDocument/2006/relationships/notesMaster" Target="/ppt/notesMasters/notesMaster1.xml" Id="Rb015580e54ca4ac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851b6a57dd14c9c" /><Relationship Type="http://schemas.openxmlformats.org/officeDocument/2006/relationships/notesMaster" Target="/ppt/notesMasters/notesMaster1.xml" Id="R1f7f24625461411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27d0136c5a5466c" /><Relationship Type="http://schemas.openxmlformats.org/officeDocument/2006/relationships/notesMaster" Target="/ppt/notesMasters/notesMaster1.xml" Id="Rca83d1604cfe4f9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da658a405aa47fa" /><Relationship Type="http://schemas.openxmlformats.org/officeDocument/2006/relationships/notesMaster" Target="/ppt/notesMasters/notesMaster1.xml" Id="Rcb0ff47a490e414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aaab07d61aa4cea" /><Relationship Type="http://schemas.openxmlformats.org/officeDocument/2006/relationships/notesMaster" Target="/ppt/notesMasters/notesMaster1.xml" Id="R3440ca0cd99f4dc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11ed390b1534d65" /><Relationship Type="http://schemas.openxmlformats.org/officeDocument/2006/relationships/notesMaster" Target="/ppt/notesMasters/notesMaster1.xml" Id="R5dbd68b97c7348b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7e23c8b045d4ea3" /><Relationship Type="http://schemas.openxmlformats.org/officeDocument/2006/relationships/notesMaster" Target="/ppt/notesMasters/notesMaster1.xml" Id="R0e0c016d79cf4b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Представьте продукт со стороны закупщика: он ищет позиции, сохраняет выбор и передаёт подборку для согласования. Название описывает сценарий использования текущего прототипа.</a:t>
            </a:r>
          </a:p>
          <a:p xmlns:a="http://schemas.openxmlformats.org/drawingml/2006/main">
            <a:r>
              <a:t>Основание: архив hack-66bc5b7b-ctrl-z-main (4).zip, README.md, разделы Витрина и каталог, Excel и PDF.</a:t>
            </a:r>
          </a:p>
          <a:p xmlns:a="http://schemas.openxmlformats.org/drawingml/2006/main">
            <a:r>
              <a:t>Фотография: Frames For Your Heart, https://unsplash.com/photos/fIwZ5l_Jb04. Unsplash License. Тематическая иллюстрация, не объект или сотрудники Электрокомплекта.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Сценарий: закупщик готовит подборку для обсуждения внутри своей организации. Это сценарий использования, а не результат исследования покупателей. Экспорт реализован для подтверждённых строк демонстрационной корзины.</a:t>
            </a:r>
          </a:p>
          <a:p xmlns:a="http://schemas.openxmlformats.org/drawingml/2006/main">
            <a:r>
              <a:t>Основание: архив hack-66bc5b7b-ctrl-z-main (4).zip, lib/export-selection.ts; lib/selection.ts.</a:t>
            </a:r>
          </a:p>
          <a:p xmlns:a="http://schemas.openxmlformats.org/drawingml/2006/main">
            <a:r>
              <a:t>Фотография: JESHOOTS.COM, https://unsplash.com/photos/pUAM5hPaCRI. Unsplash License. Тематическая иллюстрация, не объект или сотрудники Электрокомплекта.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Распределение рассчитано по 100 элементам data/catalog.json с правилами категорий lib/catalog-browser.ts. Автоматы 30, автоматика 23, щиты20, защита13, освещение9, коробки5. Сумма100. Это статистика поставляемого снимка, не всего EKT.</a:t>
            </a:r>
          </a:p>
          <a:p xmlns:a="http://schemas.openxmlformats.org/drawingml/2006/main">
            <a:r>
              <a:t>Основание: архив hack-66bc5b7b-ctrl-z-main (4).zip, data/catalog.json; lib/catalog-browser.ts.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Покажите фильтры витрины. Это фильтрация полей каталога, а не инженерная проверка совместимости. Пошаговый подбор использует тот же механизм.</a:t>
            </a:r>
          </a:p>
          <a:p xmlns:a="http://schemas.openxmlformats.org/drawingml/2006/main">
            <a:r>
              <a:t>Основание: архив hack-66bc5b7b-ctrl-z-main (4).zip, lib/catalog-browser.ts; README.md, Витрина и каталог.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Витрина хранит избранное и последние восемь товаров локально. Нет обещания синхронизации между устройствами или командного доступа.</a:t>
            </a:r>
          </a:p>
          <a:p xmlns:a="http://schemas.openxmlformats.org/drawingml/2006/main">
            <a:r>
              <a:t>Основание: архив hack-66bc5b7b-ctrl-z-main (4).zip, README.md, Витрина и каталог.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Сравнение2–3 товаров реализовано в текущей версии. Техническое отличие требует анализа специалистом. Нельзя обещать автоматическую гарантию взаимозаменяемости.</a:t>
            </a:r>
          </a:p>
          <a:p xmlns:a="http://schemas.openxmlformats.org/drawingml/2006/main">
            <a:r>
              <a:t>Основание: архив hack-66bc5b7b-ctrl-z-main (4).zip, README.md, Новые сценарии; app/features.tsx.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Переключатель локализует интерфейс, типовые ответы и подписи экспорта. Значения свойств, описания товаров и тексты пользователя не переводятся. Выбор языка сохраняется в браузере и синхронизируется между вкладками.</a:t>
            </a:r>
          </a:p>
          <a:p xmlns:a="http://schemas.openxmlformats.org/drawingml/2006/main">
            <a:r>
              <a:t>Основание: архив hack-66bc5b7b-ctrl-z-main (4).zip, lib/i18n.ts; README.md, Русский и казахский.</a:t>
            </a:r>
          </a:p>
          <a:p xmlns:a="http://schemas.openxmlformats.org/drawingml/2006/main">
            <a:r>
              <a:t>Фотография: Bagzhan Sadvakassov, https://unsplash.com/photos/-RFkSvGNbwk. Unsplash License. Тематическая иллюстрация, не объект или сотрудники Электрокомплекта.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 берёт поддерживаемые фразы из документации и i18n. На демонстрации сначала выберите товар и дождитесь предложения. Не представляйте словарь как свободное понимание всего казахского языка.</a:t>
            </a:r>
          </a:p>
          <a:p xmlns:a="http://schemas.openxmlformats.org/drawingml/2006/main">
            <a:r>
              <a:t>Основание: архив hack-66bc5b7b-ctrl-z-main (4).zip, README.md, Русский и казахский; lib/i18n.ts.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Оба формата создаются из подтверждённых строк корзины. Экспорт создаётся в браузере без внешнего сервиса генерации документов.</a:t>
            </a:r>
          </a:p>
          <a:p xmlns:a="http://schemas.openxmlformats.org/drawingml/2006/main">
            <a:r>
              <a:t>Основание: архив hack-66bc5b7b-ctrl-z-main (4).zip, lib/export-selection.ts; README.md, Excel и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OOXML writer использует inlineStr для строк. Формулы формируются кодом только для суммы строки и итога. В заголовке выгрузки есть город и дата, в каждой строке ссылка на товар.</a:t>
            </a:r>
          </a:p>
          <a:p xmlns:a="http://schemas.openxmlformats.org/drawingml/2006/main">
            <a:r>
              <a:t>Основание: архив hack-66bc5b7b-ctrl-z-main (4).zip, lib/export-selection.ts, selectionXlsx.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Числа3из5 иллюстративные. Реальный экспорт берёт непокрытые строки из последнего серверного разбора спецификации. Если правки остались только в интерфейсе, нужен повторный разбор.</a:t>
            </a:r>
          </a:p>
          <a:p xmlns:a="http://schemas.openxmlformats.org/drawingml/2006/main">
            <a:r>
              <a:t>Основание: архив hack-66bc5b7b-ctrl-z-main (4).zip, lib/selection.ts; lib/export-selection.ts.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Цена берётся из подтверждённой корзины. Эта оговорка непосредственно напечатана в экспортируемых документах. При новом действии корзины используется действующая серверная проверка.</a:t>
            </a:r>
          </a:p>
          <a:p xmlns:a="http://schemas.openxmlformats.org/drawingml/2006/main">
            <a:r>
              <a:t>Основание: архив hack-66bc5b7b-ctrl-z-main (4).zip, lib/export-selection.ts, note.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Оценка хранится на сервере в сессии с ID сообщения, допускаются1,-1,null. Можно оценить только ответ ассистента в своей сессии. Не заявлять уже построенную аналитику качества.</a:t>
            </a:r>
          </a:p>
          <a:p xmlns:a="http://schemas.openxmlformats.org/drawingml/2006/main">
            <a:r>
              <a:t>Основание: архив hack-66bc5b7b-ctrl-z-main (4).zip, lib/feedback.ts; README.md, Оценка ответов.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Черновик включает город, содержимое корзины, историю и последний разбор спецификации. Автоматической отправки менеджеру нет. Фото иллюстрирует обсуждение, не команду проекта.</a:t>
            </a:r>
          </a:p>
          <a:p xmlns:a="http://schemas.openxmlformats.org/drawingml/2006/main">
            <a:r>
              <a:t>Основание: архив hack-66bc5b7b-ctrl-z-main (4).zip, README.md, Новые сценарии; app/api/assistant/route.ts.</a:t>
            </a:r>
          </a:p>
          <a:p xmlns:a="http://schemas.openxmlformats.org/drawingml/2006/main">
            <a:r>
              <a:t>Фотография: Redd Francisco, https://unsplash.com/photos/PTRzqc_h1r4. Unsplash License. Тематическая иллюстрация, не объект или сотрудники Электрокомплекта.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Разделение нужно для честных ожиданий. Локальное избранное не синхронизируется с аккаунтом EKT, серверная сессия не служит постоянной историей закупок.</a:t>
            </a:r>
          </a:p>
          <a:p xmlns:a="http://schemas.openxmlformats.org/drawingml/2006/main">
            <a:r>
              <a:t>Основание: архив hack-66bc5b7b-ctrl-z-main (4).zip, README.md, Русский и казахский, Оценка ответов, Витрина и каталог; lib/store.ts.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sync-catalog поддерживает --resume, повторные попытки, ограничение размера и атомарную замену. README указывает лимит встроенного снимка12МБ и отсутствие расписания. Последняя попытка расширить выборку завершилась тайм-аутом, в архиве100карточек. Не обещать что полный каталог уже загружен.</a:t>
            </a:r>
          </a:p>
          <a:p xmlns:a="http://schemas.openxmlformats.org/drawingml/2006/main">
            <a:r>
              <a:t>Основание: архив hack-66bc5b7b-ctrl-z-main (4).zip, scripts/sync-catalog.mjs; README.md, Данные и достоверность.</a:t>
            </a:r>
          </a:p>
          <a:p xmlns:a="http://schemas.openxmlformats.org/drawingml/2006/main">
            <a:r>
              <a:t>Фотография: Lalit Kumar, https://unsplash.com/photos/HpPmiduLDC0. Unsplash License. Тематическая иллюстрация, не объект или сотрудники Электрокомплекта.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Предложение команды для будущего пилота. Оценку полезности надо считать среди оценённых ответов и отдельно показывать долю ответов с оценкой. Нельзя выдавать эту метрику за точность всей системы. Для остальных метрик нужно добавить сбор событий и провести сравнение на одинаковых заданиях.</a:t>
            </a:r>
          </a:p>
          <a:p xmlns:a="http://schemas.openxmlformats.org/drawingml/2006/main">
            <a:r>
              <a:t>Основание: архив hack-66bc5b7b-ctrl-z-main (4).zip, Предложение развития на основе функций текущего архива.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Чётко назовите этот слайд предложениями, а не уже работающими возможностями. Реализация потребует аккаунтов, прав доступа и согласованного хранения данных. Приоритет следует определить с владельцем кейса.</a:t>
            </a:r>
          </a:p>
          <a:p xmlns:a="http://schemas.openxmlformats.org/drawingml/2006/main">
            <a:r>
              <a:t>Основание: архив hack-66bc5b7b-ctrl-z-main (4).zip, Авторские предложения развития.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дополнительный сценарий защиты новых функций, он не заменяет проверку обязательных сценариев исходного кейса. Перед показом подготовить сессию, доступный API и товар. Не отправлять черновик менеджеру автоматически.</a:t>
            </a:r>
          </a:p>
          <a:p xmlns:a="http://schemas.openxmlformats.org/drawingml/2006/main">
            <a:r>
              <a:t>Основание: архив hack-66bc5b7b-ctrl-z-main (4).zip, README.md; CASE.md.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Заключение: основная задача кейса сохраняется. Консультация опирается на каталог, товар попадает в корзину только после явного согласия. Новые возможности помогают продолжить работу за пределами чата. В исходном кейсе также обязательны характеристики и наличие, сертификат при наличии источника, обоснованный аналог, условия покупки и актуальная ссылка на корзину. Общие правила конкурса недоступны для полной проверки.</a:t>
            </a:r>
          </a:p>
          <a:p xmlns:a="http://schemas.openxmlformats.org/drawingml/2006/main">
            <a:r>
              <a:t>Основание: архив hack-66bc5b7b-ctrl-z-main (4).zip, CASE.md; README.md.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6c7da64bda43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d3d5f4a66845c6" /><Relationship Type="http://schemas.openxmlformats.org/officeDocument/2006/relationships/slideLayout" Target="/ppt/slideLayouts/slideLayout1.xml" Id="Rfa6396d9b1e44b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6396d9b1e44b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e4b275c064adf" /><Relationship Type="http://schemas.openxmlformats.org/officeDocument/2006/relationships/image" Target="/ppt/media/image.jpeg" Id="R49788e94697548cf" /><Relationship Type="http://schemas.openxmlformats.org/officeDocument/2006/relationships/notesSlide" Target="/ppt/notesSlides/notesSlide1.xml" Id="Refc00fb12ae648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e76f3bb1974d25" /><Relationship Type="http://schemas.openxmlformats.org/officeDocument/2006/relationships/image" Target="/ppt/media/image2.jpeg" Id="R719bd61427a7449b" /><Relationship Type="http://schemas.openxmlformats.org/officeDocument/2006/relationships/notesSlide" Target="/ppt/notesSlides/notesSlide2.xml" Id="R2f4f64c0f61d40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a71f2ff784ade" /><Relationship Type="http://schemas.openxmlformats.org/officeDocument/2006/relationships/chart" Target="/ppt/slides/charts/chart1.xml" Id="R3ec7b7f7d9ff40a6" /><Relationship Type="http://schemas.openxmlformats.org/officeDocument/2006/relationships/notesSlide" Target="/ppt/notesSlides/notesSlide3.xml" Id="Rcdbb505b430045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c415e93cd4fc1" /><Relationship Type="http://schemas.openxmlformats.org/officeDocument/2006/relationships/notesSlide" Target="/ppt/notesSlides/notesSlide4.xml" Id="R57ba81f87ae14e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675ad1fa34cb8" /><Relationship Type="http://schemas.openxmlformats.org/officeDocument/2006/relationships/notesSlide" Target="/ppt/notesSlides/notesSlide5.xml" Id="R33909558448043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75bca66a04dc4" /><Relationship Type="http://schemas.openxmlformats.org/officeDocument/2006/relationships/notesSlide" Target="/ppt/notesSlides/notesSlide6.xml" Id="R8e167bfe169948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96acce92d4932" /><Relationship Type="http://schemas.openxmlformats.org/officeDocument/2006/relationships/image" Target="/ppt/media/image3.jpeg" Id="Rfa08ec64cdb24ad0" /><Relationship Type="http://schemas.openxmlformats.org/officeDocument/2006/relationships/notesSlide" Target="/ppt/notesSlides/notesSlide7.xml" Id="Raa6ce2973dd043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1e2fe67ac49f3" /><Relationship Type="http://schemas.openxmlformats.org/officeDocument/2006/relationships/notesSlide" Target="/ppt/notesSlides/notesSlide8.xml" Id="R3dd9f63894ec45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2f1ab08f64ae6" /><Relationship Type="http://schemas.openxmlformats.org/officeDocument/2006/relationships/notesSlide" Target="/ppt/notesSlides/notesSlide9.xml" Id="Rc09b5903445245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10d42381e495c" /><Relationship Type="http://schemas.openxmlformats.org/officeDocument/2006/relationships/notesSlide" Target="/ppt/notesSlides/notesSlide10.xml" Id="R4720dff27f9c4a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f607a96aa46bc" /><Relationship Type="http://schemas.openxmlformats.org/officeDocument/2006/relationships/notesSlide" Target="/ppt/notesSlides/notesSlide11.xml" Id="R1edfd195d67d4e2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12a28a61a478f" /><Relationship Type="http://schemas.openxmlformats.org/officeDocument/2006/relationships/notesSlide" Target="/ppt/notesSlides/notesSlide12.xml" Id="R63487af02cae490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a4df429b443b5" /><Relationship Type="http://schemas.openxmlformats.org/officeDocument/2006/relationships/notesSlide" Target="/ppt/notesSlides/notesSlide13.xml" Id="R0d23f8e418054dd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72901b458445b" /><Relationship Type="http://schemas.openxmlformats.org/officeDocument/2006/relationships/image" Target="/ppt/media/image4.jpeg" Id="R79adc8d348184e92" /><Relationship Type="http://schemas.openxmlformats.org/officeDocument/2006/relationships/notesSlide" Target="/ppt/notesSlides/notesSlide14.xml" Id="R65b22371ed0b44b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0ad99494d4742" /><Relationship Type="http://schemas.openxmlformats.org/officeDocument/2006/relationships/notesSlide" Target="/ppt/notesSlides/notesSlide15.xml" Id="R7ef3f975fb4a472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f7bd9216d4737" /><Relationship Type="http://schemas.openxmlformats.org/officeDocument/2006/relationships/image" Target="/ppt/media/image5.jpeg" Id="Rd885aca4092d4fed" /><Relationship Type="http://schemas.openxmlformats.org/officeDocument/2006/relationships/notesSlide" Target="/ppt/notesSlides/notesSlide16.xml" Id="R7113a34a45a14ee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1cd201ec84f5b" /><Relationship Type="http://schemas.openxmlformats.org/officeDocument/2006/relationships/notesSlide" Target="/ppt/notesSlides/notesSlide17.xml" Id="Rc5a69e6755f04a1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f1440913e46d8" /><Relationship Type="http://schemas.openxmlformats.org/officeDocument/2006/relationships/notesSlide" Target="/ppt/notesSlides/notesSlide18.xml" Id="Rc72ef49531fc46d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38da95724448b" /><Relationship Type="http://schemas.openxmlformats.org/officeDocument/2006/relationships/notesSlide" Target="/ppt/notesSlides/notesSlide19.xml" Id="R90c247c3a4f84c9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7499f6ee34cd1" /><Relationship Type="http://schemas.openxmlformats.org/officeDocument/2006/relationships/notesSlide" Target="/ppt/notesSlides/notesSlide20.xml" Id="Re36c4b305b4d4cc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Карточки</c:v>
          </c:tx>
          <c:spPr>
            <a:solidFill xmlns:a="http://schemas.openxmlformats.org/drawingml/2006/main">
              <a:srgbClr val="C64A25"/>
            </a:solidFill>
          </c:spPr>
          <c:cat>
            <c:strRef>
              <c:f>'Chart Data'!$A$2:$A$7</c:f>
              <c:strCache>
                <c:ptCount val="6"/>
                <c:pt idx="0">
                  <c:v>Автоматы</c:v>
                </c:pt>
                <c:pt idx="1">
                  <c:v>Автоматика</c:v>
                </c:pt>
                <c:pt idx="2">
                  <c:v>Щиты</c:v>
                </c:pt>
                <c:pt idx="3">
                  <c:v>Защита</c:v>
                </c:pt>
                <c:pt idx="4">
                  <c:v>Освещение</c:v>
                </c:pt>
                <c:pt idx="5">
                  <c:v>Коробки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30</c:v>
                </c:pt>
                <c:pt idx="1">
                  <c:v>23</c:v>
                </c:pt>
                <c:pt idx="2">
                  <c:v>20</c:v>
                </c:pt>
                <c:pt idx="3">
                  <c:v>13</c:v>
                </c:pt>
                <c:pt idx="4">
                  <c:v>9</c:v>
                </c:pt>
                <c:pt idx="5">
                  <c:v>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30231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0E5"/>
        </a:solidFill>
      </c:spPr>
    </c:plotArea>
    <c:plotVisOnly val="1"/>
  </c:chart>
  <c:spPr>
    <a:solidFill xmlns:a="http://schemas.openxmlformats.org/drawingml/2006/main">
      <a:srgbClr val="F7F0E5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68BC2-B521-4BA1-BDBB-0CDD442D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1151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788e94697548cf"/>
          <a:srcRect xmlns:a="http://schemas.openxmlformats.org/drawingml/2006/main" l="22044" t="0" r="220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6858000" cy="77152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57105D-902F-4F28-84E2-873F9539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3875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64A2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64A25"/>
                </a:solidFill>
                <a:latin typeface="Arial"/>
                <a:ea typeface="Arial"/>
                <a:cs typeface="Arial"/>
              </a:rPr>
              <a:t>ЭЛЕКТРОКОМПЛЕКТ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B6197-F575-4E00-9848-EEA93D23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6200775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30231F"/>
                </a:solidFill>
                <a:latin typeface="Arial"/>
                <a:ea typeface="Arial"/>
                <a:cs typeface="Arial"/>
              </a:rPr>
              <a:t>Рабочее место</a:t>
            </a:r>
          </a:p>
          <a:p xmlns:a="http://schemas.openxmlformats.org/drawingml/2006/main">
            <a:pPr>
              <a:defRPr sz="5400" b="1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30231F"/>
                </a:solidFill>
                <a:latin typeface="Arial"/>
                <a:ea typeface="Arial"/>
                <a:cs typeface="Arial"/>
              </a:rPr>
              <a:t>закупщика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DBD9E-E03C-4175-B085-1410B302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52975"/>
            <a:ext cx="572452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Каталог, консультация</a:t>
            </a:r>
          </a:p>
          <a:p xmlns:a="http://schemas.openxmlformats.org/drawingml/2006/main">
            <a:pPr>
              <a:defRPr sz="2625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и готовая подборка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DFB6E6-DFBE-4A16-B26C-0DF15C94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886575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866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8665C"/>
                </a:solidFill>
                <a:latin typeface="Arial"/>
                <a:ea typeface="Arial"/>
                <a:cs typeface="Arial"/>
              </a:rPr>
              <a:t>HackAlem AI  /  команда Ctrl Z</a:t>
            </a:r>
          </a:p>
        </p:txBody>
      </p:sp>
    </p:spTree>
    <p:extLst>
      <p:ext uri="{BB962C8B-B14F-4D97-AF65-F5344CB8AC3E}">
        <p14:creationId xmlns:p14="http://schemas.microsoft.com/office/powerpoint/2010/main" val="10308031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4E8D7-C3D3-46DA-8952-9E73C7E1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1151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bd61427a7449b"/>
          <a:srcRect xmlns:a="http://schemas.openxmlformats.org/drawingml/2006/main" l="22229" t="0" r="222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429375" cy="77152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08468-EB77-41CB-8724-F1C01B6D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847725"/>
            <a:ext cx="60007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30231F"/>
                </a:solidFill>
                <a:latin typeface="Arial"/>
                <a:ea typeface="Arial"/>
                <a:cs typeface="Arial"/>
              </a:rPr>
              <a:t>Результат нужен</a:t>
            </a:r>
          </a:p>
          <a:p xmlns:a="http://schemas.openxmlformats.org/drawingml/2006/main">
            <a:pPr>
              <a:defRPr sz="3975" b="1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30231F"/>
                </a:solidFill>
                <a:latin typeface="Arial"/>
                <a:ea typeface="Arial"/>
                <a:cs typeface="Arial"/>
              </a:rPr>
              <a:t>за пределами чата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B1D26F-4E8D-48EA-885D-68C065A1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086100"/>
            <a:ext cx="575310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Коллеге нужен список</a:t>
            </a:r>
          </a:p>
          <a:p xmlns:a="http://schemas.openxmlformats.org/drawingml/2006/main">
            <a:pPr>
              <a:defRPr sz="2625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с артикулами, количеством</a:t>
            </a:r>
          </a:p>
          <a:p xmlns:a="http://schemas.openxmlformats.org/drawingml/2006/main">
            <a:pPr>
              <a:defRPr sz="2625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и понятной суммой.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3A3FD-216C-4B31-AE5F-621CD4EE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857875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64A2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64A25"/>
                </a:solidFill>
                <a:latin typeface="Arial"/>
                <a:ea typeface="Arial"/>
                <a:cs typeface="Arial"/>
              </a:rPr>
              <a:t>Подборку можно выгрузить</a:t>
            </a:r>
          </a:p>
          <a:p xmlns:a="http://schemas.openxmlformats.org/drawingml/2006/main">
            <a:pPr>
              <a:defRPr sz="2400" b="1">
                <a:solidFill>
                  <a:srgbClr val="C64A2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64A25"/>
                </a:solidFill>
                <a:latin typeface="Arial"/>
                <a:ea typeface="Arial"/>
                <a:cs typeface="Arial"/>
              </a:rPr>
              <a:t>в Excel или PDF.</a:t>
            </a:r>
          </a:p>
        </p:txBody>
      </p:sp>
    </p:spTree>
    <p:extLst>
      <p:ext uri="{BB962C8B-B14F-4D97-AF65-F5344CB8AC3E}">
        <p14:creationId xmlns:p14="http://schemas.microsoft.com/office/powerpoint/2010/main" val="17110394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95E49-18CF-4C7C-AC84-FD39694A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7225"/>
            <a:ext cx="121920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30231F"/>
                </a:solidFill>
                <a:latin typeface="Arial"/>
                <a:ea typeface="Arial"/>
                <a:cs typeface="Arial"/>
              </a:rPr>
              <a:t>Что находится в демонстрационном каталоге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7FAFA-7A60-48F8-8BB5-B5C370BF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1151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85800" y="2276475"/>
          <a:ext xmlns:a="http://schemas.openxmlformats.org/drawingml/2006/main" cx="9144000" cy="4238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ec7b7f7d9ff40a6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C6CF2D-9441-46E1-9160-FDF106AF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52700"/>
            <a:ext cx="28384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75" b="1">
                <a:solidFill>
                  <a:srgbClr val="C64A25"/>
                </a:solidFill>
                <a:latin typeface="Arial"/>
                <a:ea typeface="Arial"/>
                <a:cs typeface="Arial"/>
              </a:defRPr>
            </a:pPr>
            <a:r>
              <a:rPr sz="7875" b="1">
                <a:solidFill>
                  <a:srgbClr val="C64A25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CBC83-97A6-4EC9-88DC-C9992ACD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29075"/>
            <a:ext cx="26860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карточек</a:t>
            </a:r>
          </a:p>
          <a:p xmlns:a="http://schemas.openxmlformats.org/drawingml/2006/main">
            <a:pPr>
              <a:defRPr sz="2250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в 6 категориях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0F073-1865-4717-BED3-536A5202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791325"/>
            <a:ext cx="1152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8665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8665C"/>
                </a:solidFill>
                <a:latin typeface="Arial"/>
                <a:ea typeface="Arial"/>
                <a:cs typeface="Arial"/>
              </a:rPr>
              <a:t>Снимок от 23.09.2026. Это состав выборки, а не всего магазина.</a:t>
            </a:r>
          </a:p>
        </p:txBody>
      </p:sp>
    </p:spTree>
    <p:extLst>
      <p:ext uri="{BB962C8B-B14F-4D97-AF65-F5344CB8AC3E}">
        <p14:creationId xmlns:p14="http://schemas.microsoft.com/office/powerpoint/2010/main" val="1840239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A992A9-A2C4-44CD-8F71-5CC73264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7225"/>
            <a:ext cx="121920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30231F"/>
                </a:solidFill>
                <a:latin typeface="Arial"/>
                <a:ea typeface="Arial"/>
                <a:cs typeface="Arial"/>
              </a:rPr>
              <a:t>Подбор начинается с ограничений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EBE6F-991E-4754-A2DA-9522A674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1151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C852E-883B-49AB-9BF0-AC150568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52675"/>
            <a:ext cx="33623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64A2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64A25"/>
                </a:solidFill>
                <a:latin typeface="Arial"/>
                <a:ea typeface="Arial"/>
                <a:cs typeface="Arial"/>
              </a:rPr>
              <a:t>Тип товара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CAA6CC-272A-4453-A29F-7EE1E05F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52675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Категория задаёт область поиска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28DE5E-C293-4E02-B436-C11652FD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19475"/>
            <a:ext cx="33623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64A2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64A25"/>
                </a:solidFill>
                <a:latin typeface="Arial"/>
                <a:ea typeface="Arial"/>
                <a:cs typeface="Arial"/>
              </a:rPr>
              <a:t>Производитель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9A577-FBA3-4BE8-8B12-044EBFEF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419475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Бренд ограничивает варианты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6BAE6-8A73-41CB-B478-FB4E5DC5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86275"/>
            <a:ext cx="33623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64A2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64A25"/>
                </a:solidFill>
                <a:latin typeface="Arial"/>
                <a:ea typeface="Arial"/>
                <a:cs typeface="Arial"/>
              </a:rPr>
              <a:t>Бюджет и ток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99C0A-6B0C-41B4-83C6-17110ACD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486275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Цена и номинал сужают выдачу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31F51F-3E04-432D-8614-B14A5FE9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53075"/>
            <a:ext cx="33623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64A2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64A25"/>
                </a:solidFill>
                <a:latin typeface="Arial"/>
                <a:ea typeface="Arial"/>
                <a:cs typeface="Arial"/>
              </a:rPr>
              <a:t>Местное наличие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078FB6-2890-4B74-A1C0-A2500F70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553075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Город помогает проверить доступность</a:t>
            </a:r>
          </a:p>
        </p:txBody>
      </p:sp>
    </p:spTree>
    <p:extLst>
      <p:ext uri="{BB962C8B-B14F-4D97-AF65-F5344CB8AC3E}">
        <p14:creationId xmlns:p14="http://schemas.microsoft.com/office/powerpoint/2010/main" val="16487268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C64A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047211-F97B-4261-9908-385BDC6F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7225"/>
            <a:ext cx="121920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7F0E5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7F0E5"/>
                </a:solidFill>
                <a:latin typeface="Arial"/>
                <a:ea typeface="Arial"/>
                <a:cs typeface="Arial"/>
              </a:rPr>
              <a:t>Возврат к найденным позициям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0E04E-532B-4ED3-8E26-144DA24E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1151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7F0E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0E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4AB2B9-08B8-402F-ACA4-92AA159B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24100"/>
            <a:ext cx="4667250" cy="2543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275" b="1">
                <a:solidFill>
                  <a:srgbClr val="F7F0E5"/>
                </a:solidFill>
                <a:latin typeface="Arial"/>
                <a:ea typeface="Arial"/>
                <a:cs typeface="Arial"/>
              </a:defRPr>
            </a:pPr>
            <a:r>
              <a:rPr sz="16275" b="1">
                <a:solidFill>
                  <a:srgbClr val="F7F0E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04A7B-F1AE-49C9-8C31-C8F33E80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210175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F7F0E5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F7F0E5"/>
                </a:solidFill>
                <a:latin typeface="Arial"/>
                <a:ea typeface="Arial"/>
                <a:cs typeface="Arial"/>
              </a:rPr>
              <a:t>последних просмотренных</a:t>
            </a:r>
          </a:p>
          <a:p xmlns:a="http://schemas.openxmlformats.org/drawingml/2006/main">
            <a:pPr>
              <a:defRPr sz="2775" b="0">
                <a:solidFill>
                  <a:srgbClr val="F7F0E5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F7F0E5"/>
                </a:solidFill>
                <a:latin typeface="Arial"/>
                <a:ea typeface="Arial"/>
                <a:cs typeface="Arial"/>
              </a:rPr>
              <a:t>товаров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6BE72-A588-46AB-BE1E-B73C78D8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52725"/>
            <a:ext cx="57245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7F0E5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7F0E5"/>
                </a:solidFill>
                <a:latin typeface="Arial"/>
                <a:ea typeface="Arial"/>
                <a:cs typeface="Arial"/>
              </a:rPr>
              <a:t>Избранное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42C95-81D8-415C-BB42-425D1113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38575"/>
            <a:ext cx="561022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7F0E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7F0E5"/>
                </a:solidFill>
                <a:latin typeface="Arial"/>
                <a:ea typeface="Arial"/>
                <a:cs typeface="Arial"/>
              </a:rPr>
              <a:t>Покупатель отмечает позиции,</a:t>
            </a:r>
          </a:p>
          <a:p xmlns:a="http://schemas.openxmlformats.org/drawingml/2006/main">
            <a:pPr>
              <a:defRPr sz="2550" b="0">
                <a:solidFill>
                  <a:srgbClr val="F7F0E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7F0E5"/>
                </a:solidFill>
                <a:latin typeface="Arial"/>
                <a:ea typeface="Arial"/>
                <a:cs typeface="Arial"/>
              </a:rPr>
              <a:t>которые хочет рассмотреть</a:t>
            </a:r>
          </a:p>
          <a:p xmlns:a="http://schemas.openxmlformats.org/drawingml/2006/main">
            <a:pPr>
              <a:defRPr sz="2550" b="0">
                <a:solidFill>
                  <a:srgbClr val="F7F0E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7F0E5"/>
                </a:solidFill>
                <a:latin typeface="Arial"/>
                <a:ea typeface="Arial"/>
                <a:cs typeface="Arial"/>
              </a:rPr>
              <a:t>позже.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E5BE54-98C8-44C7-9237-91CF1E0B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6219825"/>
            <a:ext cx="5638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0E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0E5"/>
                </a:solidFill>
                <a:latin typeface="Arial"/>
                <a:ea typeface="Arial"/>
                <a:cs typeface="Arial"/>
              </a:rPr>
              <a:t>Оба списка сохраняются в текущем браузере.</a:t>
            </a:r>
          </a:p>
        </p:txBody>
      </p:sp>
    </p:spTree>
    <p:extLst>
      <p:ext uri="{BB962C8B-B14F-4D97-AF65-F5344CB8AC3E}">
        <p14:creationId xmlns:p14="http://schemas.microsoft.com/office/powerpoint/2010/main" val="13586655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9D57D-7B87-4819-B782-0515B50E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7225"/>
            <a:ext cx="121920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30231F"/>
                </a:solidFill>
                <a:latin typeface="Arial"/>
                <a:ea typeface="Arial"/>
                <a:cs typeface="Arial"/>
              </a:rPr>
              <a:t>Сравнение помогает обсудить выбор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BCE1B-FE97-48FC-AB13-7CD927C1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1151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62000" y="2571750"/>
          <a:ext xmlns:a="http://schemas.openxmlformats.org/drawingml/2006/main" cx="12192000" cy="3390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8096250"/>
              </a:tblGrid>
              <a:tr h="8477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сравниваем</a:t>
                      </a:r>
                    </a:p>
                  </a:txBody>
                  <a:tcPr marL="91440" marR="91440" marT="45720" marB="45720">
                    <a:solidFill>
                      <a:srgbClr val="C64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Какой вопрос решаем</a:t>
                      </a:r>
                    </a:p>
                  </a:txBody>
                  <a:tcPr marL="91440" marR="91440" marT="45720" marB="45720">
                    <a:solidFill>
                      <a:srgbClr val="C64A25"/>
                    </a:solidFill>
                  </a:tcPr>
                </a:tc>
              </a:tr>
              <a:tr h="847725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30231F"/>
                          </a:solidFill>
                          <a:latin typeface="Arial"/>
                          <a:ea typeface="Arial"/>
                          <a:cs typeface="Arial"/>
                        </a:rPr>
                        <a:t>Цена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30231F"/>
                          </a:solidFill>
                          <a:latin typeface="Arial"/>
                          <a:ea typeface="Arial"/>
                          <a:cs typeface="Arial"/>
                        </a:rPr>
                        <a:t>Укладывается ли вариант в бюджет?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47725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30231F"/>
                          </a:solidFill>
                          <a:latin typeface="Arial"/>
                          <a:ea typeface="Arial"/>
                          <a:cs typeface="Arial"/>
                        </a:rPr>
                        <a:t>Местный остаток</a:t>
                      </a:r>
                    </a:p>
                  </a:txBody>
                  <a:tcPr marL="91440" marR="91440" marT="45720" marB="45720">
                    <a:solidFill>
                      <a:srgbClr val="EFE2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30231F"/>
                          </a:solidFill>
                          <a:latin typeface="Arial"/>
                          <a:ea typeface="Arial"/>
                          <a:cs typeface="Arial"/>
                        </a:rPr>
                        <a:t>Хватит ли единиц в выбранном городе?</a:t>
                      </a:r>
                    </a:p>
                  </a:txBody>
                  <a:tcPr marL="91440" marR="91440" marT="45720" marB="45720">
                    <a:solidFill>
                      <a:srgbClr val="EFE2D3"/>
                    </a:solidFill>
                  </a:tcPr>
                </a:tc>
              </a:tr>
              <a:tr h="847725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30231F"/>
                          </a:solidFill>
                          <a:latin typeface="Arial"/>
                          <a:ea typeface="Arial"/>
                          <a:cs typeface="Arial"/>
                        </a:rPr>
                        <a:t>Параметры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30231F"/>
                          </a:solidFill>
                          <a:latin typeface="Arial"/>
                          <a:ea typeface="Arial"/>
                          <a:cs typeface="Arial"/>
                        </a:rPr>
                        <a:t>В чём различаются кандидаты?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69AB3-D73B-403F-B291-789BCB0D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77000"/>
            <a:ext cx="114395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64A2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64A25"/>
                </a:solidFill>
                <a:latin typeface="Arial"/>
                <a:ea typeface="Arial"/>
                <a:cs typeface="Arial"/>
              </a:rPr>
              <a:t>В одной таблице можно сопоставить 2–3 товара.</a:t>
            </a:r>
          </a:p>
        </p:txBody>
      </p:sp>
    </p:spTree>
    <p:extLst>
      <p:ext uri="{BB962C8B-B14F-4D97-AF65-F5344CB8AC3E}">
        <p14:creationId xmlns:p14="http://schemas.microsoft.com/office/powerpoint/2010/main" val="15429511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55BF5C-CA71-43F3-BE01-6E6A2AF1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1151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8ec64cdb24ad0"/>
          <a:srcRect xmlns:a="http://schemas.openxmlformats.org/drawingml/2006/main" l="0" t="27651" r="0" b="276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629025"/>
            <a:ext cx="13716000" cy="40862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9B342-1A99-428D-8AD4-920DC6CD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1500"/>
            <a:ext cx="12144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30231F"/>
                </a:solidFill>
                <a:latin typeface="Arial"/>
                <a:ea typeface="Arial"/>
                <a:cs typeface="Arial"/>
              </a:rPr>
              <a:t>Русский и қазақша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E0F61-69D9-4780-B557-4346BF22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81200"/>
            <a:ext cx="118205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Язык интерфейса выбирает покупатель.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08131-70AC-4B17-B49E-8210AAFC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11753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8665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8665C"/>
                </a:solidFill>
                <a:latin typeface="Arial"/>
                <a:ea typeface="Arial"/>
                <a:cs typeface="Arial"/>
              </a:rPr>
              <a:t>Названия товаров сохраняются на языке источника.</a:t>
            </a:r>
          </a:p>
        </p:txBody>
      </p:sp>
    </p:spTree>
    <p:extLst>
      <p:ext uri="{BB962C8B-B14F-4D97-AF65-F5344CB8AC3E}">
        <p14:creationId xmlns:p14="http://schemas.microsoft.com/office/powerpoint/2010/main" val="21244464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3229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36CE9-101B-41D2-8556-FA4EAC61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7225"/>
            <a:ext cx="121920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7F0E5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7F0E5"/>
                </a:solidFill>
                <a:latin typeface="Arial"/>
                <a:ea typeface="Arial"/>
                <a:cs typeface="Arial"/>
              </a:rPr>
              <a:t>Казахский запрос сохраняет контроль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2158E-DCB1-46AD-9A37-671FFAD5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1151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7F0E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0E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8AD4C-D375-4127-B7E1-BB3EE628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12049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E8B294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E8B294"/>
                </a:solidFill>
                <a:latin typeface="Arial"/>
                <a:ea typeface="Arial"/>
                <a:cs typeface="Arial"/>
              </a:rPr>
              <a:t>«2 дана қос»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699879-9180-4139-A104-1228A451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14775"/>
            <a:ext cx="118681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7F0E5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7F0E5"/>
                </a:solidFill>
                <a:latin typeface="Arial"/>
                <a:ea typeface="Arial"/>
                <a:cs typeface="Arial"/>
              </a:rPr>
              <a:t>Запрос на добавление двух единиц.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EFEAEA-C6C2-4CE1-90DE-406FEA54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57825"/>
            <a:ext cx="11849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7F0E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7F0E5"/>
                </a:solidFill>
                <a:latin typeface="Arial"/>
                <a:ea typeface="Arial"/>
                <a:cs typeface="Arial"/>
              </a:rPr>
              <a:t>«Иә, қос» подтверждает подготовленное действие.</a:t>
            </a:r>
          </a:p>
          <a:p xmlns:a="http://schemas.openxmlformats.org/drawingml/2006/main">
            <a:pPr>
              <a:defRPr sz="2550" b="0">
                <a:solidFill>
                  <a:srgbClr val="F7F0E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7F0E5"/>
                </a:solidFill>
                <a:latin typeface="Arial"/>
                <a:ea typeface="Arial"/>
                <a:cs typeface="Arial"/>
              </a:rPr>
              <a:t>Одного «иә» недостаточно.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13A7B-384C-4B75-9954-0CF49727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953250"/>
            <a:ext cx="1131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8B29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8B294"/>
                </a:solidFill>
                <a:latin typeface="Arial"/>
                <a:ea typeface="Arial"/>
                <a:cs typeface="Arial"/>
              </a:rPr>
              <a:t>Без модели понимание ограничено словарём типовых фраз.</a:t>
            </a:r>
          </a:p>
        </p:txBody>
      </p:sp>
    </p:spTree>
    <p:extLst>
      <p:ext uri="{BB962C8B-B14F-4D97-AF65-F5344CB8AC3E}">
        <p14:creationId xmlns:p14="http://schemas.microsoft.com/office/powerpoint/2010/main" val="18098343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4CA854-DF8D-4A49-B39C-E52700E6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7225"/>
            <a:ext cx="121920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30231F"/>
                </a:solidFill>
                <a:latin typeface="Arial"/>
                <a:ea typeface="Arial"/>
                <a:cs typeface="Arial"/>
              </a:rPr>
              <a:t>Два формата готовой подборки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1FE7B-0DDD-4683-B7AC-EEA293AE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1151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B54D7-F690-4269-8179-307A527D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86050"/>
            <a:ext cx="6191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425" b="1">
                <a:solidFill>
                  <a:srgbClr val="C64A25"/>
                </a:solidFill>
                <a:latin typeface="Arial"/>
                <a:ea typeface="Arial"/>
                <a:cs typeface="Arial"/>
              </a:defRPr>
            </a:pPr>
            <a:r>
              <a:rPr sz="7425" b="1">
                <a:solidFill>
                  <a:srgbClr val="C64A25"/>
                </a:solidFill>
                <a:latin typeface="Arial"/>
                <a:ea typeface="Arial"/>
                <a:cs typeface="Arial"/>
              </a:rPr>
              <a:t>XLSX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F46D3-C07D-42B9-A8E0-9784D2FD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67200"/>
            <a:ext cx="5667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0231F"/>
                </a:solidFill>
                <a:latin typeface="Arial"/>
                <a:ea typeface="Arial"/>
                <a:cs typeface="Arial"/>
              </a:rPr>
              <a:t>Для работы с цифрами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49A91-0733-4498-A9FC-CCD02974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55149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Количество, цены и формулы</a:t>
            </a:r>
          </a:p>
          <a:p xmlns:a="http://schemas.openxmlformats.org/drawingml/2006/main">
            <a:pPr>
              <a:defRPr sz="2325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доступны в таблице.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00B347-CDCE-4F1B-9DCA-675B9326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86050"/>
            <a:ext cx="50863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425" b="1">
                <a:solidFill>
                  <a:srgbClr val="C64A25"/>
                </a:solidFill>
                <a:latin typeface="Arial"/>
                <a:ea typeface="Arial"/>
                <a:cs typeface="Arial"/>
              </a:defRPr>
            </a:pPr>
            <a:r>
              <a:rPr sz="7425" b="1">
                <a:solidFill>
                  <a:srgbClr val="C64A25"/>
                </a:solidFill>
                <a:latin typeface="Arial"/>
                <a:ea typeface="Arial"/>
                <a:cs typeface="Arial"/>
              </a:rPr>
              <a:t>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3AD4E-4863-4DCA-AE50-8E278758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267200"/>
            <a:ext cx="5238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0231F"/>
                </a:solidFill>
                <a:latin typeface="Arial"/>
                <a:ea typeface="Arial"/>
                <a:cs typeface="Arial"/>
              </a:rPr>
              <a:t>Для просмотра и передачи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95E059-90DC-47B9-9188-32866D1F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476875"/>
            <a:ext cx="50863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Ссылки, переносы строк</a:t>
            </a:r>
          </a:p>
          <a:p xmlns:a="http://schemas.openxmlformats.org/drawingml/2006/main">
            <a:pPr>
              <a:defRPr sz="2325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и нумерация страниц.</a:t>
            </a:r>
          </a:p>
        </p:txBody>
      </p:sp>
    </p:spTree>
    <p:extLst>
      <p:ext uri="{BB962C8B-B14F-4D97-AF65-F5344CB8AC3E}">
        <p14:creationId xmlns:p14="http://schemas.microsoft.com/office/powerpoint/2010/main" val="18703137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17C15-B22E-44A9-B301-3ACA5463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7225"/>
            <a:ext cx="121920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30231F"/>
                </a:solidFill>
                <a:latin typeface="Arial"/>
                <a:ea typeface="Arial"/>
                <a:cs typeface="Arial"/>
              </a:rPr>
              <a:t>Excel сохраняет смысл данных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5EE78-93DD-44A9-8E03-04C1A274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1151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62000" y="2371725"/>
          <a:ext xmlns:a="http://schemas.openxmlformats.org/drawingml/2006/main" cx="12192000" cy="3838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8096250"/>
              </a:tblGrid>
              <a:tr h="76771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Поле</a:t>
                      </a:r>
                    </a:p>
                  </a:txBody>
                  <a:tcPr marL="91440" marR="91440" marT="45720" marB="45720">
                    <a:solidFill>
                      <a:srgbClr val="C64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Как записывается</a:t>
                      </a:r>
                    </a:p>
                  </a:txBody>
                  <a:tcPr marL="91440" marR="91440" marT="45720" marB="45720">
                    <a:solidFill>
                      <a:srgbClr val="C64A25"/>
                    </a:solidFill>
                  </a:tcPr>
                </a:tc>
              </a:tr>
              <a:tr h="767715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30231F"/>
                          </a:solidFill>
                          <a:latin typeface="Arial"/>
                          <a:ea typeface="Arial"/>
                          <a:cs typeface="Arial"/>
                        </a:rPr>
                        <a:t>Артикул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30231F"/>
                          </a:solidFill>
                          <a:latin typeface="Arial"/>
                          <a:ea typeface="Arial"/>
                          <a:cs typeface="Arial"/>
                        </a:rPr>
                        <a:t>Текст: формат идентификатора сохраняется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7715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30231F"/>
                          </a:solidFill>
                          <a:latin typeface="Arial"/>
                          <a:ea typeface="Arial"/>
                          <a:cs typeface="Arial"/>
                        </a:rPr>
                        <a:t>Количество и цена</a:t>
                      </a:r>
                    </a:p>
                  </a:txBody>
                  <a:tcPr marL="91440" marR="91440" marT="45720" marB="45720">
                    <a:solidFill>
                      <a:srgbClr val="EFE2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30231F"/>
                          </a:solidFill>
                          <a:latin typeface="Arial"/>
                          <a:ea typeface="Arial"/>
                          <a:cs typeface="Arial"/>
                        </a:rPr>
                        <a:t>Числа для расчётов</a:t>
                      </a:r>
                    </a:p>
                  </a:txBody>
                  <a:tcPr marL="91440" marR="91440" marT="45720" marB="45720">
                    <a:solidFill>
                      <a:srgbClr val="EFE2D3"/>
                    </a:solidFill>
                  </a:tcPr>
                </a:tc>
              </a:tr>
              <a:tr h="767715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30231F"/>
                          </a:solidFill>
                          <a:latin typeface="Arial"/>
                          <a:ea typeface="Arial"/>
                          <a:cs typeface="Arial"/>
                        </a:rPr>
                        <a:t>Сумма строки и итог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30231F"/>
                          </a:solidFill>
                          <a:latin typeface="Arial"/>
                          <a:ea typeface="Arial"/>
                          <a:cs typeface="Arial"/>
                        </a:rPr>
                        <a:t>Формулы с сохранёнными результатами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7715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30231F"/>
                          </a:solidFill>
                          <a:latin typeface="Arial"/>
                          <a:ea typeface="Arial"/>
                          <a:cs typeface="Arial"/>
                        </a:rPr>
                        <a:t>Пользовательский текст</a:t>
                      </a:r>
                    </a:p>
                  </a:txBody>
                  <a:tcPr marL="91440" marR="91440" marT="45720" marB="45720">
                    <a:solidFill>
                      <a:srgbClr val="EFE2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30231F"/>
                          </a:solidFill>
                          <a:latin typeface="Arial"/>
                          <a:ea typeface="Arial"/>
                          <a:cs typeface="Arial"/>
                        </a:rPr>
                        <a:t>Строка, которая не исполняется как формула</a:t>
                      </a:r>
                    </a:p>
                  </a:txBody>
                  <a:tcPr marL="91440" marR="91440" marT="45720" marB="45720">
                    <a:solidFill>
                      <a:srgbClr val="EFE2D3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B5510-A50C-457E-870C-D65137A2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686550"/>
            <a:ext cx="11525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64A2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C64A25"/>
                </a:solidFill>
                <a:latin typeface="Arial"/>
                <a:ea typeface="Arial"/>
                <a:cs typeface="Arial"/>
              </a:rPr>
              <a:t>В файл входят позиции подтверждённой корзины.</a:t>
            </a:r>
          </a:p>
        </p:txBody>
      </p:sp>
    </p:spTree>
    <p:extLst>
      <p:ext uri="{BB962C8B-B14F-4D97-AF65-F5344CB8AC3E}">
        <p14:creationId xmlns:p14="http://schemas.microsoft.com/office/powerpoint/2010/main" val="2183383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C64A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F0CCF-5CB9-481F-873C-9C11C8EA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7225"/>
            <a:ext cx="121920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7F0E5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7F0E5"/>
                </a:solidFill>
                <a:latin typeface="Arial"/>
                <a:ea typeface="Arial"/>
                <a:cs typeface="Arial"/>
              </a:rPr>
              <a:t>Неподобранные строки остаются видимыми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64C32-B5B7-414C-B4AF-1566A2A0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1151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7F0E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0E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ACB63A-369B-4931-B025-DBFF5A9E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19350"/>
            <a:ext cx="122872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325" b="1">
                <a:solidFill>
                  <a:srgbClr val="F7F0E5"/>
                </a:solidFill>
                <a:latin typeface="Arial"/>
                <a:ea typeface="Arial"/>
                <a:cs typeface="Arial"/>
              </a:defRPr>
            </a:pPr>
            <a:r>
              <a:rPr sz="8325" b="1">
                <a:solidFill>
                  <a:srgbClr val="F7F0E5"/>
                </a:solidFill>
                <a:latin typeface="Arial"/>
                <a:ea typeface="Arial"/>
                <a:cs typeface="Arial"/>
              </a:rPr>
              <a:t>3 из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527CEC-FE56-45D7-92AF-92A22D3F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11658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F7F0E5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F7F0E5"/>
                </a:solidFill>
                <a:latin typeface="Arial"/>
                <a:ea typeface="Arial"/>
                <a:cs typeface="Arial"/>
              </a:rPr>
              <a:t>позиций подтверждены в корзине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B3AA4-FA10-472E-9263-27530C63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95925"/>
            <a:ext cx="11906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7F0E5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7F0E5"/>
                </a:solidFill>
                <a:latin typeface="Arial"/>
                <a:ea typeface="Arial"/>
                <a:cs typeface="Arial"/>
              </a:rPr>
              <a:t>Ещё 2 строки требуют уточнения.</a:t>
            </a:r>
          </a:p>
          <a:p xmlns:a="http://schemas.openxmlformats.org/drawingml/2006/main">
            <a:pPr>
              <a:defRPr sz="2700" b="0">
                <a:solidFill>
                  <a:srgbClr val="F7F0E5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7F0E5"/>
                </a:solidFill>
                <a:latin typeface="Arial"/>
                <a:ea typeface="Arial"/>
                <a:cs typeface="Arial"/>
              </a:rPr>
              <a:t>Экспорт показывает их отдельно от суммы.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EA0B5-EDBC-4CE6-9C1E-B29E01DF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00875"/>
            <a:ext cx="11115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7F0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7F0E5"/>
                </a:solidFill>
                <a:latin typeface="Arial"/>
                <a:ea typeface="Arial"/>
                <a:cs typeface="Arial"/>
              </a:rPr>
              <a:t>Условный пример состава подборки.</a:t>
            </a:r>
          </a:p>
        </p:txBody>
      </p:sp>
    </p:spTree>
    <p:extLst>
      <p:ext uri="{BB962C8B-B14F-4D97-AF65-F5344CB8AC3E}">
        <p14:creationId xmlns:p14="http://schemas.microsoft.com/office/powerpoint/2010/main" val="14112029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DD54E-393E-4878-87C8-99235B05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7225"/>
            <a:ext cx="121920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30231F"/>
                </a:solidFill>
                <a:latin typeface="Arial"/>
                <a:ea typeface="Arial"/>
                <a:cs typeface="Arial"/>
              </a:rPr>
              <a:t>Цена в файле относится к моменту подтверждения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6E982-1A5E-4F86-97C7-7112F9F4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1151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C84B5-DD3E-45C0-8D23-0D6AECEF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33650"/>
            <a:ext cx="1204912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725" b="1">
                <a:solidFill>
                  <a:srgbClr val="C64A25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C64A25"/>
                </a:solidFill>
                <a:latin typeface="Arial"/>
                <a:ea typeface="Arial"/>
                <a:cs typeface="Arial"/>
              </a:rPr>
              <a:t>Выгрузка фиксирует</a:t>
            </a:r>
          </a:p>
          <a:p xmlns:a="http://schemas.openxmlformats.org/drawingml/2006/main">
            <a:pPr>
              <a:defRPr sz="4725" b="1">
                <a:solidFill>
                  <a:srgbClr val="C64A25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C64A25"/>
                </a:solidFill>
                <a:latin typeface="Arial"/>
                <a:ea typeface="Arial"/>
                <a:cs typeface="Arial"/>
              </a:rPr>
              <a:t>согласованную подборку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E8CE6-C7B3-4031-8965-0500FD27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9675"/>
            <a:ext cx="33623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64A2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64A25"/>
                </a:solidFill>
                <a:latin typeface="Arial"/>
                <a:ea typeface="Arial"/>
                <a:cs typeface="Arial"/>
              </a:rPr>
              <a:t>Обновление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D964C-9B32-41A4-9B42-90BA19C6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019675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Кнопка экспорта не запрашивает новую цену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06552-E7A2-481D-AE77-FFC2DAEB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33623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64A2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64A25"/>
                </a:solidFill>
                <a:latin typeface="Arial"/>
                <a:ea typeface="Arial"/>
                <a:cs typeface="Arial"/>
              </a:rPr>
              <a:t>Статус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99015-C874-4EF7-B1FA-D366DAB1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0007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Файл не создаёт заказ и не резервирует товар</a:t>
            </a:r>
          </a:p>
        </p:txBody>
      </p:sp>
    </p:spTree>
    <p:extLst>
      <p:ext uri="{BB962C8B-B14F-4D97-AF65-F5344CB8AC3E}">
        <p14:creationId xmlns:p14="http://schemas.microsoft.com/office/powerpoint/2010/main" val="6488609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CA7F57-8617-48E7-A4FB-BA5A2EF0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7225"/>
            <a:ext cx="121920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30231F"/>
                </a:solidFill>
                <a:latin typeface="Arial"/>
                <a:ea typeface="Arial"/>
                <a:cs typeface="Arial"/>
              </a:rPr>
              <a:t>Покупатель может оценить ответ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97E6E-D58E-4885-8900-6CA37FF3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1151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86CD35-DD4A-44A8-B65D-8C86150D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59436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C64A25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C64A25"/>
                </a:solidFill>
                <a:latin typeface="Arial"/>
                <a:ea typeface="Arial"/>
                <a:cs typeface="Arial"/>
              </a:rPr>
              <a:t>Помогло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37688-F521-42F8-A463-2983A44D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14600"/>
            <a:ext cx="59436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C64A25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C64A25"/>
                </a:solidFill>
                <a:latin typeface="Arial"/>
                <a:ea typeface="Arial"/>
                <a:cs typeface="Arial"/>
              </a:rPr>
              <a:t>Не помогло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68983-F24A-4926-B561-86FD5F0A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9575"/>
            <a:ext cx="119443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Оценка относится к конкретному ответу</a:t>
            </a:r>
          </a:p>
          <a:p xmlns:a="http://schemas.openxmlformats.org/drawingml/2006/main">
            <a:pPr>
              <a:defRPr sz="3000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и восстанавливается после перезагрузки.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BEC0CC-217A-4E5D-8309-3C65F4EC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29350"/>
            <a:ext cx="11468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78665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8665C"/>
                </a:solidFill>
                <a:latin typeface="Arial"/>
                <a:ea typeface="Arial"/>
                <a:cs typeface="Arial"/>
              </a:rPr>
              <a:t>Повторное нажатие снимает оценку.</a:t>
            </a:r>
          </a:p>
          <a:p xmlns:a="http://schemas.openxmlformats.org/drawingml/2006/main">
            <a:pPr>
              <a:defRPr sz="2100" b="0">
                <a:solidFill>
                  <a:srgbClr val="78665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8665C"/>
                </a:solidFill>
                <a:latin typeface="Arial"/>
                <a:ea typeface="Arial"/>
                <a:cs typeface="Arial"/>
              </a:rPr>
              <a:t>Общей панели аналитики пока нет.</a:t>
            </a:r>
          </a:p>
        </p:txBody>
      </p:sp>
    </p:spTree>
    <p:extLst>
      <p:ext uri="{BB962C8B-B14F-4D97-AF65-F5344CB8AC3E}">
        <p14:creationId xmlns:p14="http://schemas.microsoft.com/office/powerpoint/2010/main" val="14525422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3CA76E-5B28-4FDF-A35E-1860910F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1151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adc8d348184e92"/>
          <a:srcRect xmlns:a="http://schemas.openxmlformats.org/drawingml/2006/main" l="21701" t="0" r="217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762875" cy="77152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086D8-E34A-4A8E-A7AF-0B263D7D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714375"/>
            <a:ext cx="4867275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30231F"/>
                </a:solidFill>
                <a:latin typeface="Arial"/>
                <a:ea typeface="Arial"/>
                <a:cs typeface="Arial"/>
              </a:rPr>
              <a:t>Обращение</a:t>
            </a:r>
          </a:p>
          <a:p xmlns:a="http://schemas.openxmlformats.org/drawingml/2006/main">
            <a:pPr>
              <a:defRPr sz="3825" b="1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30231F"/>
                </a:solidFill>
                <a:latin typeface="Arial"/>
                <a:ea typeface="Arial"/>
                <a:cs typeface="Arial"/>
              </a:rPr>
              <a:t>с контекстом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7DF18-DF0E-46F0-A914-EC1E87A0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57550"/>
            <a:ext cx="45529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Город, корзина и история</a:t>
            </a:r>
          </a:p>
          <a:p xmlns:a="http://schemas.openxmlformats.org/drawingml/2006/main">
            <a:pPr>
              <a:defRPr sz="2325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помогают сформулировать</a:t>
            </a:r>
          </a:p>
          <a:p xmlns:a="http://schemas.openxmlformats.org/drawingml/2006/main">
            <a:pPr>
              <a:defRPr sz="2325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вопрос менеджеру.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1B7F6-05A4-4F90-B2EE-4C06484B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781675"/>
            <a:ext cx="45529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64A2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64A25"/>
                </a:solidFill>
                <a:latin typeface="Arial"/>
                <a:ea typeface="Arial"/>
                <a:cs typeface="Arial"/>
              </a:rPr>
              <a:t>Покупатель редактирует</a:t>
            </a:r>
          </a:p>
          <a:p xmlns:a="http://schemas.openxmlformats.org/drawingml/2006/main">
            <a:pPr>
              <a:defRPr sz="2250" b="1">
                <a:solidFill>
                  <a:srgbClr val="C64A2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64A25"/>
                </a:solidFill>
                <a:latin typeface="Arial"/>
                <a:ea typeface="Arial"/>
                <a:cs typeface="Arial"/>
              </a:rPr>
              <a:t>и скачивает черновик.</a:t>
            </a:r>
          </a:p>
        </p:txBody>
      </p:sp>
    </p:spTree>
    <p:extLst>
      <p:ext uri="{BB962C8B-B14F-4D97-AF65-F5344CB8AC3E}">
        <p14:creationId xmlns:p14="http://schemas.microsoft.com/office/powerpoint/2010/main" val="7524689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17AC7-F96C-47D2-A82B-8A5AA390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7225"/>
            <a:ext cx="121920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30231F"/>
                </a:solidFill>
                <a:latin typeface="Arial"/>
                <a:ea typeface="Arial"/>
                <a:cs typeface="Arial"/>
              </a:rPr>
              <a:t>Где сохраняется выбор покупателя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65F086-9590-4330-968E-DD4C709E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1151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762000" y="2514600"/>
          <a:ext xmlns:a="http://schemas.openxmlformats.org/drawingml/2006/main" cx="1219200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3905250"/>
                <a:gridCol w="4191000"/>
              </a:tblGrid>
              <a:tr h="77343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Данные</a:t>
                      </a:r>
                    </a:p>
                  </a:txBody>
                  <a:tcPr marL="91440" marR="91440" marT="45720" marB="45720">
                    <a:solidFill>
                      <a:srgbClr val="C64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Место хранения</a:t>
                      </a:r>
                    </a:p>
                  </a:txBody>
                  <a:tcPr marL="91440" marR="91440" marT="45720" marB="45720">
                    <a:solidFill>
                      <a:srgbClr val="C64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Ограничение</a:t>
                      </a:r>
                    </a:p>
                  </a:txBody>
                  <a:tcPr marL="91440" marR="91440" marT="45720" marB="45720">
                    <a:solidFill>
                      <a:srgbClr val="C64A25"/>
                    </a:solidFill>
                  </a:tcPr>
                </a:tc>
              </a:tr>
              <a:tr h="77343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30231F"/>
                          </a:solidFill>
                          <a:latin typeface="Arial"/>
                          <a:ea typeface="Arial"/>
                          <a:cs typeface="Arial"/>
                        </a:rPr>
                        <a:t>Язык и избранное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30231F"/>
                          </a:solidFill>
                          <a:latin typeface="Arial"/>
                          <a:ea typeface="Arial"/>
                          <a:cs typeface="Arial"/>
                        </a:rPr>
                        <a:t>Браузер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30231F"/>
                          </a:solidFill>
                          <a:latin typeface="Arial"/>
                          <a:ea typeface="Arial"/>
                          <a:cs typeface="Arial"/>
                        </a:rPr>
                        <a:t>На текущем устройстве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343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30231F"/>
                          </a:solidFill>
                          <a:latin typeface="Arial"/>
                          <a:ea typeface="Arial"/>
                          <a:cs typeface="Arial"/>
                        </a:rPr>
                        <a:t>Последние товары</a:t>
                      </a:r>
                    </a:p>
                  </a:txBody>
                  <a:tcPr marL="91440" marR="91440" marT="45720" marB="45720">
                    <a:solidFill>
                      <a:srgbClr val="EFE2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30231F"/>
                          </a:solidFill>
                          <a:latin typeface="Arial"/>
                          <a:ea typeface="Arial"/>
                          <a:cs typeface="Arial"/>
                        </a:rPr>
                        <a:t>Браузер</a:t>
                      </a:r>
                    </a:p>
                  </a:txBody>
                  <a:tcPr marL="91440" marR="91440" marT="45720" marB="45720">
                    <a:solidFill>
                      <a:srgbClr val="EFE2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30231F"/>
                          </a:solidFill>
                          <a:latin typeface="Arial"/>
                          <a:ea typeface="Arial"/>
                          <a:cs typeface="Arial"/>
                        </a:rPr>
                        <a:t>До 8 позиций</a:t>
                      </a:r>
                    </a:p>
                  </a:txBody>
                  <a:tcPr marL="91440" marR="91440" marT="45720" marB="45720">
                    <a:solidFill>
                      <a:srgbClr val="EFE2D3"/>
                    </a:solidFill>
                  </a:tcPr>
                </a:tc>
              </a:tr>
              <a:tr h="77343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30231F"/>
                          </a:solidFill>
                          <a:latin typeface="Arial"/>
                          <a:ea typeface="Arial"/>
                          <a:cs typeface="Arial"/>
                        </a:rPr>
                        <a:t>Диалог и оценки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30231F"/>
                          </a:solidFill>
                          <a:latin typeface="Arial"/>
                          <a:ea typeface="Arial"/>
                          <a:cs typeface="Arial"/>
                        </a:rPr>
                        <a:t>Серверная сессия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30231F"/>
                          </a:solidFill>
                          <a:latin typeface="Arial"/>
                          <a:ea typeface="Arial"/>
                          <a:cs typeface="Arial"/>
                        </a:rPr>
                        <a:t>До 24 часов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343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30231F"/>
                          </a:solidFill>
                          <a:latin typeface="Arial"/>
                          <a:ea typeface="Arial"/>
                          <a:cs typeface="Arial"/>
                        </a:rPr>
                        <a:t>Корзина</a:t>
                      </a:r>
                    </a:p>
                  </a:txBody>
                  <a:tcPr marL="91440" marR="91440" marT="45720" marB="45720">
                    <a:solidFill>
                      <a:srgbClr val="EFE2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30231F"/>
                          </a:solidFill>
                          <a:latin typeface="Arial"/>
                          <a:ea typeface="Arial"/>
                          <a:cs typeface="Arial"/>
                        </a:rPr>
                        <a:t>Серверная сессия</a:t>
                      </a:r>
                    </a:p>
                  </a:txBody>
                  <a:tcPr marL="91440" marR="91440" marT="45720" marB="45720">
                    <a:solidFill>
                      <a:srgbClr val="EFE2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30231F"/>
                          </a:solidFill>
                          <a:latin typeface="Arial"/>
                          <a:ea typeface="Arial"/>
                          <a:cs typeface="Arial"/>
                        </a:rPr>
                        <a:t>Демонстрационная</a:t>
                      </a:r>
                    </a:p>
                  </a:txBody>
                  <a:tcPr marL="91440" marR="91440" marT="45720" marB="45720">
                    <a:solidFill>
                      <a:srgbClr val="EFE2D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895839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E77D84-33C9-4068-AC6A-8143383D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1151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85aca4092d4fed"/>
          <a:srcRect xmlns:a="http://schemas.openxmlformats.org/drawingml/2006/main" l="0" t="25209" r="0" b="252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32099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A4DFE-3614-4774-9715-8CB406A8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76650"/>
            <a:ext cx="12192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30231F"/>
                </a:solidFill>
                <a:latin typeface="Arial"/>
                <a:ea typeface="Arial"/>
                <a:cs typeface="Arial"/>
              </a:rPr>
              <a:t>Расширение каталога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18B02-2FA8-4555-91CB-D1ECAA20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38700"/>
            <a:ext cx="66865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Загрузка умеет продолжаться</a:t>
            </a:r>
          </a:p>
          <a:p xmlns:a="http://schemas.openxmlformats.org/drawingml/2006/main">
            <a:pPr>
              <a:defRPr sz="2850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после прерывания.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D4A3E-6991-4FCF-98B4-8A41D729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838700"/>
            <a:ext cx="38195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C64A25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C64A25"/>
                </a:solidFill>
                <a:latin typeface="Arial"/>
                <a:ea typeface="Arial"/>
                <a:cs typeface="Arial"/>
              </a:rPr>
              <a:t>Текущая поставка:</a:t>
            </a:r>
          </a:p>
          <a:p xmlns:a="http://schemas.openxmlformats.org/drawingml/2006/main">
            <a:pPr>
              <a:defRPr sz="2625" b="1">
                <a:solidFill>
                  <a:srgbClr val="C64A25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C64A25"/>
                </a:solidFill>
                <a:latin typeface="Arial"/>
                <a:ea typeface="Arial"/>
                <a:cs typeface="Arial"/>
              </a:rPr>
              <a:t>100 карточек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0857A-86CA-4E47-A3C5-4AABC1EC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96075"/>
            <a:ext cx="114204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78665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78665C"/>
                </a:solidFill>
                <a:latin typeface="Arial"/>
                <a:ea typeface="Arial"/>
                <a:cs typeface="Arial"/>
              </a:rPr>
              <a:t>Для большого каталога нужен индекс в базе и регулярное обновление.</a:t>
            </a:r>
          </a:p>
        </p:txBody>
      </p:sp>
    </p:spTree>
    <p:extLst>
      <p:ext uri="{BB962C8B-B14F-4D97-AF65-F5344CB8AC3E}">
        <p14:creationId xmlns:p14="http://schemas.microsoft.com/office/powerpoint/2010/main" val="729546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74263-53AF-418B-AD91-E9F3B47D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7225"/>
            <a:ext cx="121920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30231F"/>
                </a:solidFill>
                <a:latin typeface="Arial"/>
                <a:ea typeface="Arial"/>
                <a:cs typeface="Arial"/>
              </a:rPr>
              <a:t>Как измерить пользу для закупщика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87BFF-EBEA-4ACD-88EC-EAD52EB2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1151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62000" y="2486025"/>
          <a:ext xmlns:a="http://schemas.openxmlformats.org/drawingml/2006/main" cx="121920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6858000"/>
              </a:tblGrid>
              <a:tr h="77914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Метрика пилота</a:t>
                      </a:r>
                    </a:p>
                  </a:txBody>
                  <a:tcPr marL="91440" marR="91440" marT="45720" marB="45720">
                    <a:solidFill>
                      <a:srgbClr val="C64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Способ проверки</a:t>
                      </a:r>
                    </a:p>
                  </a:txBody>
                  <a:tcPr marL="91440" marR="91440" marT="45720" marB="45720">
                    <a:solidFill>
                      <a:srgbClr val="C64A25"/>
                    </a:solidFill>
                  </a:tcPr>
                </a:tc>
              </a:tr>
              <a:tr h="77914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30231F"/>
                          </a:solidFill>
                          <a:latin typeface="Arial"/>
                          <a:ea typeface="Arial"/>
                          <a:cs typeface="Arial"/>
                        </a:rPr>
                        <a:t>Время до готовой подборки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30231F"/>
                          </a:solidFill>
                          <a:latin typeface="Arial"/>
                          <a:ea typeface="Arial"/>
                          <a:cs typeface="Arial"/>
                        </a:rPr>
                        <a:t>Замер от начала задания до экспорта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914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30231F"/>
                          </a:solidFill>
                          <a:latin typeface="Arial"/>
                          <a:ea typeface="Arial"/>
                          <a:cs typeface="Arial"/>
                        </a:rPr>
                        <a:t>Исправления в подборке</a:t>
                      </a:r>
                    </a:p>
                  </a:txBody>
                  <a:tcPr marL="91440" marR="91440" marT="45720" marB="45720">
                    <a:solidFill>
                      <a:srgbClr val="EFE2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30231F"/>
                          </a:solidFill>
                          <a:latin typeface="Arial"/>
                          <a:ea typeface="Arial"/>
                          <a:cs typeface="Arial"/>
                        </a:rPr>
                        <a:t>Число строк, исправленных после проверки</a:t>
                      </a:r>
                    </a:p>
                  </a:txBody>
                  <a:tcPr marL="91440" marR="91440" marT="45720" marB="45720">
                    <a:solidFill>
                      <a:srgbClr val="EFE2D3"/>
                    </a:solidFill>
                  </a:tcPr>
                </a:tc>
              </a:tr>
              <a:tr h="77914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30231F"/>
                          </a:solidFill>
                          <a:latin typeface="Arial"/>
                          <a:ea typeface="Arial"/>
                          <a:cs typeface="Arial"/>
                        </a:rPr>
                        <a:t>Успешная самостоятельная работа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30231F"/>
                          </a:solidFill>
                          <a:latin typeface="Arial"/>
                          <a:ea typeface="Arial"/>
                          <a:cs typeface="Arial"/>
                        </a:rPr>
                        <a:t>Задания, завершённые без помощи менеджера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914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30231F"/>
                          </a:solidFill>
                          <a:latin typeface="Arial"/>
                          <a:ea typeface="Arial"/>
                          <a:cs typeface="Arial"/>
                        </a:rPr>
                        <a:t>Оценка ответа</a:t>
                      </a:r>
                    </a:p>
                  </a:txBody>
                  <a:tcPr marL="91440" marR="91440" marT="45720" marB="45720">
                    <a:solidFill>
                      <a:srgbClr val="EFE2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30231F"/>
                          </a:solidFill>
                          <a:latin typeface="Arial"/>
                          <a:ea typeface="Arial"/>
                          <a:cs typeface="Arial"/>
                        </a:rPr>
                        <a:t>Доля «Помогло» среди полученных оценок</a:t>
                      </a:r>
                    </a:p>
                  </a:txBody>
                  <a:tcPr marL="91440" marR="91440" marT="45720" marB="45720">
                    <a:solidFill>
                      <a:srgbClr val="EFE2D3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001B2-DAF6-495B-B26C-3D82F9B8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800850"/>
            <a:ext cx="1190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64A2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64A25"/>
                </a:solidFill>
                <a:latin typeface="Arial"/>
                <a:ea typeface="Arial"/>
                <a:cs typeface="Arial"/>
              </a:rPr>
              <a:t>Предлагаемые метрики. Измеренных результатов пока нет.</a:t>
            </a:r>
          </a:p>
        </p:txBody>
      </p:sp>
    </p:spTree>
    <p:extLst>
      <p:ext uri="{BB962C8B-B14F-4D97-AF65-F5344CB8AC3E}">
        <p14:creationId xmlns:p14="http://schemas.microsoft.com/office/powerpoint/2010/main" val="212477401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3229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139DDD-220D-4D2A-94BF-569E0A09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7225"/>
            <a:ext cx="121920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7F0E5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7F0E5"/>
                </a:solidFill>
                <a:latin typeface="Arial"/>
                <a:ea typeface="Arial"/>
                <a:cs typeface="Arial"/>
              </a:rPr>
              <a:t>Следующее развитие рабочего места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0FCF8-ED3B-4C3F-8A28-93FB71D9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1151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7F0E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0E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68D980-1482-4909-BE87-CEB52DFF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33623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8B29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8B294"/>
                </a:solidFill>
                <a:latin typeface="Arial"/>
                <a:ea typeface="Arial"/>
                <a:cs typeface="Arial"/>
              </a:rPr>
              <a:t>Подборки по объектам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16558-5B56-4937-9622-5485617F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574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7F0E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7F0E5"/>
                </a:solidFill>
                <a:latin typeface="Arial"/>
                <a:ea typeface="Arial"/>
                <a:cs typeface="Arial"/>
              </a:rPr>
              <a:t>Сохранение отдельных списков для разных проектов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28703-1B8C-4F16-AB51-B890A4F4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33623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8B29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8B294"/>
                </a:solidFill>
                <a:latin typeface="Arial"/>
                <a:ea typeface="Arial"/>
                <a:cs typeface="Arial"/>
              </a:rPr>
              <a:t>Совместное согласование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BFAA87-CDF9-4CE3-BAFF-02BB885D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533775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7F0E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7F0E5"/>
                </a:solidFill>
                <a:latin typeface="Arial"/>
                <a:ea typeface="Arial"/>
                <a:cs typeface="Arial"/>
              </a:rPr>
              <a:t>Доступ коллег к выбранной версии списка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E76734-26C2-4449-A2AC-C0CDE5A0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33623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8B29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8B294"/>
                </a:solidFill>
                <a:latin typeface="Arial"/>
                <a:ea typeface="Arial"/>
                <a:cs typeface="Arial"/>
              </a:rPr>
              <a:t>История изменений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D10D5-0A07-494B-8EE2-518993EF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61010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7F0E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7F0E5"/>
                </a:solidFill>
                <a:latin typeface="Arial"/>
                <a:ea typeface="Arial"/>
                <a:cs typeface="Arial"/>
              </a:rPr>
              <a:t>Отображение правок количества и цены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CD0A0B-FC6F-4BA1-9490-6AF37543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86425"/>
            <a:ext cx="33623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8B29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8B294"/>
                </a:solidFill>
                <a:latin typeface="Arial"/>
                <a:ea typeface="Arial"/>
                <a:cs typeface="Arial"/>
              </a:rPr>
              <a:t>Аналитика качества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DFB59F-8D9D-45FB-83FB-C003AE1E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686425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7F0E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7F0E5"/>
                </a:solidFill>
                <a:latin typeface="Arial"/>
                <a:ea typeface="Arial"/>
                <a:cs typeface="Arial"/>
              </a:rPr>
              <a:t>Разбор отрицательных оценок и причин обращения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6A8A08-E3F0-4886-B40F-5540BB22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00875"/>
            <a:ext cx="113633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8B29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8B294"/>
                </a:solidFill>
                <a:latin typeface="Arial"/>
                <a:ea typeface="Arial"/>
                <a:cs typeface="Arial"/>
              </a:rPr>
              <a:t>Предложения для следующей версии. В архиве этих функций нет.</a:t>
            </a:r>
          </a:p>
        </p:txBody>
      </p:sp>
    </p:spTree>
    <p:extLst>
      <p:ext uri="{BB962C8B-B14F-4D97-AF65-F5344CB8AC3E}">
        <p14:creationId xmlns:p14="http://schemas.microsoft.com/office/powerpoint/2010/main" val="185576247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CA3A48-19A4-4EC3-9E20-136CA11F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7225"/>
            <a:ext cx="121920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30231F"/>
                </a:solidFill>
                <a:latin typeface="Arial"/>
                <a:ea typeface="Arial"/>
                <a:cs typeface="Arial"/>
              </a:rPr>
              <a:t>Демонстрация нового сценария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48332-9EAA-4563-8383-1C3ED9F7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1151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1AD5F4-F139-440F-BA0C-075706EF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33623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64A2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64A25"/>
                </a:solidFill>
                <a:latin typeface="Arial"/>
                <a:ea typeface="Arial"/>
                <a:cs typeface="Arial"/>
              </a:rPr>
              <a:t>1. Выбор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E4542-EF06-477F-B236-D97ABCED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574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Фильтры каталога и сохранение в избранное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D2DEF-3678-4113-8BCA-4EEE271A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33623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64A2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64A25"/>
                </a:solidFill>
                <a:latin typeface="Arial"/>
                <a:ea typeface="Arial"/>
                <a:cs typeface="Arial"/>
              </a:rPr>
              <a:t>2. Язык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65486D-C4E6-4F2A-B3ED-3C98797E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54330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Переключение на казахский и типовой запрос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5DF1E7-E20E-4564-AA48-78AA0959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33623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64A2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64A25"/>
                </a:solidFill>
                <a:latin typeface="Arial"/>
                <a:ea typeface="Arial"/>
                <a:cs typeface="Arial"/>
              </a:rPr>
              <a:t>3. Подборка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0C9DEF-61D5-47C3-8903-F5F5E463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6291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Явное подтверждение подготовленного действия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725293-6EC3-4E2A-B7D7-ADE6F7C9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33623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64A2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64A25"/>
                </a:solidFill>
                <a:latin typeface="Arial"/>
                <a:ea typeface="Arial"/>
                <a:cs typeface="Arial"/>
              </a:rPr>
              <a:t>4. Передача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42B015-5943-4A9D-8534-82601544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71500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0231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0231F"/>
                </a:solidFill>
                <a:latin typeface="Arial"/>
                <a:ea typeface="Arial"/>
                <a:cs typeface="Arial"/>
              </a:rPr>
              <a:t>Экспорт XLSX/PDF и оценка ответа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CF5E44-4E12-47F5-BAD9-97FCF13E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000875"/>
            <a:ext cx="11744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8665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8665C"/>
                </a:solidFill>
                <a:latin typeface="Arial"/>
                <a:ea typeface="Arial"/>
                <a:cs typeface="Arial"/>
              </a:rPr>
              <a:t>Добавление требует доступного API. Без него показываем ограничение.</a:t>
            </a:r>
          </a:p>
        </p:txBody>
      </p:sp>
    </p:spTree>
    <p:extLst>
      <p:ext uri="{BB962C8B-B14F-4D97-AF65-F5344CB8AC3E}">
        <p14:creationId xmlns:p14="http://schemas.microsoft.com/office/powerpoint/2010/main" val="197885409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C64A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8975FF-2106-4E80-8045-35A3D693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1151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7F0E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0E5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EF9854-66DF-42B3-A010-8889AA45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66750"/>
            <a:ext cx="120015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200" b="1">
                <a:solidFill>
                  <a:srgbClr val="F7F0E5"/>
                </a:solidFill>
                <a:latin typeface="Arial"/>
                <a:ea typeface="Arial"/>
                <a:cs typeface="Arial"/>
              </a:defRPr>
            </a:pPr>
            <a:r>
              <a:rPr sz="10200" b="1">
                <a:solidFill>
                  <a:srgbClr val="F7F0E5"/>
                </a:solidFill>
                <a:latin typeface="Arial"/>
                <a:ea typeface="Arial"/>
                <a:cs typeface="Arial"/>
              </a:rPr>
              <a:t>EKT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6F469-2FF5-41E5-90B6-852E19C6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33675"/>
            <a:ext cx="122110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7F0E5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7F0E5"/>
                </a:solidFill>
                <a:latin typeface="Arial"/>
                <a:ea typeface="Arial"/>
                <a:cs typeface="Arial"/>
              </a:rPr>
              <a:t>Подборка, которую</a:t>
            </a:r>
          </a:p>
          <a:p xmlns:a="http://schemas.openxmlformats.org/drawingml/2006/main">
            <a:pPr>
              <a:defRPr sz="5700" b="1">
                <a:solidFill>
                  <a:srgbClr val="F7F0E5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7F0E5"/>
                </a:solidFill>
                <a:latin typeface="Arial"/>
                <a:ea typeface="Arial"/>
                <a:cs typeface="Arial"/>
              </a:rPr>
              <a:t>можно обсудить</a:t>
            </a:r>
          </a:p>
          <a:p xmlns:a="http://schemas.openxmlformats.org/drawingml/2006/main">
            <a:pPr>
              <a:defRPr sz="5700" b="1">
                <a:solidFill>
                  <a:srgbClr val="F7F0E5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7F0E5"/>
                </a:solidFill>
                <a:latin typeface="Arial"/>
                <a:ea typeface="Arial"/>
                <a:cs typeface="Arial"/>
              </a:rPr>
              <a:t>и передать коллеге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7C52E-805B-465F-A017-09FA8BC8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172200"/>
            <a:ext cx="118586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7F0E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7F0E5"/>
                </a:solidFill>
                <a:latin typeface="Arial"/>
                <a:ea typeface="Arial"/>
                <a:cs typeface="Arial"/>
              </a:rPr>
              <a:t>Клиент подтверждает действия.</a:t>
            </a:r>
          </a:p>
          <a:p xmlns:a="http://schemas.openxmlformats.org/drawingml/2006/main">
            <a:pPr>
              <a:defRPr sz="2400" b="0">
                <a:solidFill>
                  <a:srgbClr val="F7F0E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7F0E5"/>
                </a:solidFill>
                <a:latin typeface="Arial"/>
                <a:ea typeface="Arial"/>
                <a:cs typeface="Arial"/>
              </a:rPr>
              <a:t>Ассистент сохраняет контекст выбора.</a:t>
            </a:r>
          </a:p>
        </p:txBody>
      </p:sp>
    </p:spTree>
    <p:extLst>
      <p:ext uri="{BB962C8B-B14F-4D97-AF65-F5344CB8AC3E}">
        <p14:creationId xmlns:p14="http://schemas.microsoft.com/office/powerpoint/2010/main" val="18146480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2026-09-23T11:24:42.4270000Z</dcterms:created>
  <dcterms:modified xsi:type="dcterms:W3CDTF">2026-09-23T11:24:42.4280000Z</dcterms:modified>
</coreProperties>
</file>