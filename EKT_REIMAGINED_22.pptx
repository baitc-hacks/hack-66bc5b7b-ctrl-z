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9cc3f452bb427b" /><Relationship Type="http://schemas.openxmlformats.org/officeDocument/2006/relationships/extended-properties" Target="/docProps/app.xml" Id="Rb3aeab4b2aba4533" /><Relationship Type="http://schemas.openxmlformats.org/officeDocument/2006/relationships/officeDocument" Target="/ppt/presentation.xml" Id="Rf722ba13c71a43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6a3c313212482c"/>
  </p:sldMasterIdLst>
  <p:notesMasterIdLst>
    <p:notesMasterId xmlns:r="http://schemas.openxmlformats.org/officeDocument/2006/relationships" r:id="R04496b8838a64f4c"/>
  </p:notesMasterIdLst>
  <p:sldIdLst>
    <p:sldId xmlns:r="http://schemas.openxmlformats.org/officeDocument/2006/relationships" id="256" r:id="Rccb1123afc8940ee"/>
    <p:sldId xmlns:r="http://schemas.openxmlformats.org/officeDocument/2006/relationships" id="257" r:id="R13624c686d734506"/>
    <p:sldId xmlns:r="http://schemas.openxmlformats.org/officeDocument/2006/relationships" id="258" r:id="R336cfc816f764e4d"/>
    <p:sldId xmlns:r="http://schemas.openxmlformats.org/officeDocument/2006/relationships" id="259" r:id="R5ebf4f48c4f44001"/>
    <p:sldId xmlns:r="http://schemas.openxmlformats.org/officeDocument/2006/relationships" id="260" r:id="Rdc474870510f4191"/>
    <p:sldId xmlns:r="http://schemas.openxmlformats.org/officeDocument/2006/relationships" id="261" r:id="R0a7554873e4f402a"/>
    <p:sldId xmlns:r="http://schemas.openxmlformats.org/officeDocument/2006/relationships" id="262" r:id="Red5fbc2a4fbc4a67"/>
    <p:sldId xmlns:r="http://schemas.openxmlformats.org/officeDocument/2006/relationships" id="263" r:id="Rcae4e4f1a9bc42ce"/>
    <p:sldId xmlns:r="http://schemas.openxmlformats.org/officeDocument/2006/relationships" id="264" r:id="R56245786b3614371"/>
    <p:sldId xmlns:r="http://schemas.openxmlformats.org/officeDocument/2006/relationships" id="265" r:id="R324886873a7d4382"/>
    <p:sldId xmlns:r="http://schemas.openxmlformats.org/officeDocument/2006/relationships" id="266" r:id="R1e4faed5a2f34709"/>
    <p:sldId xmlns:r="http://schemas.openxmlformats.org/officeDocument/2006/relationships" id="267" r:id="R8eb3867be53d4db8"/>
    <p:sldId xmlns:r="http://schemas.openxmlformats.org/officeDocument/2006/relationships" id="268" r:id="Rfecc5c3ea63f4b88"/>
    <p:sldId xmlns:r="http://schemas.openxmlformats.org/officeDocument/2006/relationships" id="269" r:id="R0be8692064904921"/>
    <p:sldId xmlns:r="http://schemas.openxmlformats.org/officeDocument/2006/relationships" id="270" r:id="R46074a5941cc4dc0"/>
    <p:sldId xmlns:r="http://schemas.openxmlformats.org/officeDocument/2006/relationships" id="271" r:id="R5aabf7dd010148c5"/>
    <p:sldId xmlns:r="http://schemas.openxmlformats.org/officeDocument/2006/relationships" id="272" r:id="Rc9efc269c7d74ead"/>
    <p:sldId xmlns:r="http://schemas.openxmlformats.org/officeDocument/2006/relationships" id="273" r:id="Rec4e41d5acd94706"/>
    <p:sldId xmlns:r="http://schemas.openxmlformats.org/officeDocument/2006/relationships" id="274" r:id="Reb6c4ce979d842ae"/>
    <p:sldId xmlns:r="http://schemas.openxmlformats.org/officeDocument/2006/relationships" id="275" r:id="R94e82ea8ad784a7d"/>
    <p:sldId xmlns:r="http://schemas.openxmlformats.org/officeDocument/2006/relationships" id="276" r:id="Rea0299fd3f9b4326"/>
    <p:sldId xmlns:r="http://schemas.openxmlformats.org/officeDocument/2006/relationships" id="277" r:id="Ra112eaebdd9f46ad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fe95c93c2b4bb5" /><Relationship Type="http://schemas.openxmlformats.org/officeDocument/2006/relationships/slideMaster" Target="/ppt/slideMasters/slideMaster1.xml" Id="R556a3c313212482c" /><Relationship Type="http://schemas.openxmlformats.org/officeDocument/2006/relationships/notesMaster" Target="/ppt/notesMasters/notesMaster1.xml" Id="R04496b8838a64f4c" /><Relationship Type="http://schemas.openxmlformats.org/officeDocument/2006/relationships/presProps" Target="/ppt/presProps.xml" Id="R2fbde6b278244cce" /><Relationship Type="http://schemas.openxmlformats.org/officeDocument/2006/relationships/tableStyles" Target="/ppt/tableStyles.xml" Id="Rb35f6c5f7cbe4adb" /><Relationship Type="http://schemas.openxmlformats.org/officeDocument/2006/relationships/slide" Target="/ppt/slides/slide1.xml" Id="Rccb1123afc8940ee" /><Relationship Type="http://schemas.openxmlformats.org/officeDocument/2006/relationships/slide" Target="/ppt/slides/slide2.xml" Id="R13624c686d734506" /><Relationship Type="http://schemas.openxmlformats.org/officeDocument/2006/relationships/slide" Target="/ppt/slides/slide3.xml" Id="R336cfc816f764e4d" /><Relationship Type="http://schemas.openxmlformats.org/officeDocument/2006/relationships/slide" Target="/ppt/slides/slide4.xml" Id="R5ebf4f48c4f44001" /><Relationship Type="http://schemas.openxmlformats.org/officeDocument/2006/relationships/slide" Target="/ppt/slides/slide5.xml" Id="Rdc474870510f4191" /><Relationship Type="http://schemas.openxmlformats.org/officeDocument/2006/relationships/slide" Target="/ppt/slides/slide6.xml" Id="R0a7554873e4f402a" /><Relationship Type="http://schemas.openxmlformats.org/officeDocument/2006/relationships/slide" Target="/ppt/slides/slide7.xml" Id="Red5fbc2a4fbc4a67" /><Relationship Type="http://schemas.openxmlformats.org/officeDocument/2006/relationships/slide" Target="/ppt/slides/slide8.xml" Id="Rcae4e4f1a9bc42ce" /><Relationship Type="http://schemas.openxmlformats.org/officeDocument/2006/relationships/slide" Target="/ppt/slides/slide9.xml" Id="R56245786b3614371" /><Relationship Type="http://schemas.openxmlformats.org/officeDocument/2006/relationships/slide" Target="/ppt/slides/slide10.xml" Id="R324886873a7d4382" /><Relationship Type="http://schemas.openxmlformats.org/officeDocument/2006/relationships/slide" Target="/ppt/slides/slide11.xml" Id="R1e4faed5a2f34709" /><Relationship Type="http://schemas.openxmlformats.org/officeDocument/2006/relationships/slide" Target="/ppt/slides/slide12.xml" Id="R8eb3867be53d4db8" /><Relationship Type="http://schemas.openxmlformats.org/officeDocument/2006/relationships/slide" Target="/ppt/slides/slide13.xml" Id="Rfecc5c3ea63f4b88" /><Relationship Type="http://schemas.openxmlformats.org/officeDocument/2006/relationships/slide" Target="/ppt/slides/slide14.xml" Id="R0be8692064904921" /><Relationship Type="http://schemas.openxmlformats.org/officeDocument/2006/relationships/slide" Target="/ppt/slides/slide15.xml" Id="R46074a5941cc4dc0" /><Relationship Type="http://schemas.openxmlformats.org/officeDocument/2006/relationships/slide" Target="/ppt/slides/slide16.xml" Id="R5aabf7dd010148c5" /><Relationship Type="http://schemas.openxmlformats.org/officeDocument/2006/relationships/slide" Target="/ppt/slides/slide17.xml" Id="Rc9efc269c7d74ead" /><Relationship Type="http://schemas.openxmlformats.org/officeDocument/2006/relationships/slide" Target="/ppt/slides/slide18.xml" Id="Rec4e41d5acd94706" /><Relationship Type="http://schemas.openxmlformats.org/officeDocument/2006/relationships/slide" Target="/ppt/slides/slide19.xml" Id="Reb6c4ce979d842ae" /><Relationship Type="http://schemas.openxmlformats.org/officeDocument/2006/relationships/slide" Target="/ppt/slides/slide20.xml" Id="R94e82ea8ad784a7d" /><Relationship Type="http://schemas.openxmlformats.org/officeDocument/2006/relationships/slide" Target="/ppt/slides/slide21.xml" Id="Rea0299fd3f9b4326" /><Relationship Type="http://schemas.openxmlformats.org/officeDocument/2006/relationships/slide" Target="/ppt/slides/slide22.xml" Id="Ra112eaebdd9f46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96789940014b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74f8db70c647e3" /><Relationship Type="http://schemas.openxmlformats.org/officeDocument/2006/relationships/notesMaster" Target="/ppt/notesMasters/notesMaster1.xml" Id="R2e325e08272f4d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01fc8927fc416e" /><Relationship Type="http://schemas.openxmlformats.org/officeDocument/2006/relationships/notesMaster" Target="/ppt/notesMasters/notesMaster1.xml" Id="R0e5c742828fd42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efdbccad22422b" /><Relationship Type="http://schemas.openxmlformats.org/officeDocument/2006/relationships/notesMaster" Target="/ppt/notesMasters/notesMaster1.xml" Id="R4005e22a07374e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6518f4c03a45d7" /><Relationship Type="http://schemas.openxmlformats.org/officeDocument/2006/relationships/notesMaster" Target="/ppt/notesMasters/notesMaster1.xml" Id="R24695676022f49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9ca6399bbb4310" /><Relationship Type="http://schemas.openxmlformats.org/officeDocument/2006/relationships/notesMaster" Target="/ppt/notesMasters/notesMaster1.xml" Id="Rd2b7a9ff2a1643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263f21ea5f4ce2" /><Relationship Type="http://schemas.openxmlformats.org/officeDocument/2006/relationships/notesMaster" Target="/ppt/notesMasters/notesMaster1.xml" Id="Rfe025be468fc4e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26045fa60b4fb4" /><Relationship Type="http://schemas.openxmlformats.org/officeDocument/2006/relationships/notesMaster" Target="/ppt/notesMasters/notesMaster1.xml" Id="Rf9b28b8dc0174a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b186d069b24e25" /><Relationship Type="http://schemas.openxmlformats.org/officeDocument/2006/relationships/notesMaster" Target="/ppt/notesMasters/notesMaster1.xml" Id="R9c9ddfa2ff674b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66774031704698" /><Relationship Type="http://schemas.openxmlformats.org/officeDocument/2006/relationships/notesMaster" Target="/ppt/notesMasters/notesMaster1.xml" Id="R1040cb9432c041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f47ffbbb254687" /><Relationship Type="http://schemas.openxmlformats.org/officeDocument/2006/relationships/notesMaster" Target="/ppt/notesMasters/notesMaster1.xml" Id="Ra909db49812646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9aa4d04c684b5b" /><Relationship Type="http://schemas.openxmlformats.org/officeDocument/2006/relationships/notesMaster" Target="/ppt/notesMasters/notesMaster1.xml" Id="R063bb5cd4f1b46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0e1d595a614cd5" /><Relationship Type="http://schemas.openxmlformats.org/officeDocument/2006/relationships/notesMaster" Target="/ppt/notesMasters/notesMaster1.xml" Id="R9a32abda521f44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3b36685e134379" /><Relationship Type="http://schemas.openxmlformats.org/officeDocument/2006/relationships/notesMaster" Target="/ppt/notesMasters/notesMaster1.xml" Id="R2b98debb711842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17e3ef9aab4d50" /><Relationship Type="http://schemas.openxmlformats.org/officeDocument/2006/relationships/notesMaster" Target="/ppt/notesMasters/notesMaster1.xml" Id="Rc32349ea33064e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253541bf0a43c9" /><Relationship Type="http://schemas.openxmlformats.org/officeDocument/2006/relationships/notesMaster" Target="/ppt/notesMasters/notesMaster1.xml" Id="R65de8bb3e67144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96813f7b5f74f3b" /><Relationship Type="http://schemas.openxmlformats.org/officeDocument/2006/relationships/notesMaster" Target="/ppt/notesMasters/notesMaster1.xml" Id="R62b67c25d1cf48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fb9408d6c254327" /><Relationship Type="http://schemas.openxmlformats.org/officeDocument/2006/relationships/notesMaster" Target="/ppt/notesMasters/notesMaster1.xml" Id="Rca0f4a47179846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3dd1119359b401b" /><Relationship Type="http://schemas.openxmlformats.org/officeDocument/2006/relationships/notesMaster" Target="/ppt/notesMasters/notesMaster1.xml" Id="R04e7e8aedf0f4d9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7a9e0ec973f4b6e" /><Relationship Type="http://schemas.openxmlformats.org/officeDocument/2006/relationships/notesMaster" Target="/ppt/notesMasters/notesMaster1.xml" Id="R58b160844f27422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8c49e7745684dc9" /><Relationship Type="http://schemas.openxmlformats.org/officeDocument/2006/relationships/notesMaster" Target="/ppt/notesMasters/notesMaster1.xml" Id="R58f19ec1c77e461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6527b3b1b694191" /><Relationship Type="http://schemas.openxmlformats.org/officeDocument/2006/relationships/notesMaster" Target="/ppt/notesMasters/notesMaster1.xml" Id="R6dbd16d2990c496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f94e60b19eb4654" /><Relationship Type="http://schemas.openxmlformats.org/officeDocument/2006/relationships/notesMaster" Target="/ppt/notesMasters/notesMaster1.xml" Id="R2f93f11da19045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Начните с задачи: клиенту нужна помощь с каталогом, наличием и заменами. Представьте прототип и команду. Встроенная модель требует отдельного подключения; не заявляйте её уже работающей.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README.md; CASE.md. Требования: документ кейса HackAlem AI «ИИ-ассистент для чата на сайте ekt.kz», разделы 7, 9, 10.</a:t>
            </a:r>
          </a:p>
          <a:p xmlns:a="http://schemas.openxmlformats.org/drawingml/2006/main">
            <a:r>
              <a:t>Фото: Emmanuel Ikwuegbu / Unsplash: https://unsplash.com/photos/_2AlIm-F6pw. Unsplash License. Тематическое изображение, не сотрудник или объект EKT.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Описание кейса связывает задержку покупки с обращениями менеджеру. На слайде типовые вопросы, а не статистика проведённого исследования.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Документ кейса, раздел 2. Требования: документ кейса HackAlem AI «ИИ-ассистент для чата на сайте ekt.kz», разделы 7, 9, 10.</a:t>
            </a:r>
          </a:p>
          <a:p xmlns:a="http://schemas.openxmlformats.org/drawingml/2006/main">
            <a:r>
              <a:t>Фото: Christin Hume / Unsplash: https://unsplash.com/photos/Hcfwew744z4. Unsplash License. Тематическое изображение, не сотрудник или объект EKT.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пять must-have из документа задания. Слайд задаёт структуру защиты, а не объявляет полное выполнение всех пунктов. Для сертификата нужен источник с доступной ссылкой.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Документ кейса, раздел 7. Требования: документ кейса HackAlem AI «ИИ-ассистент для чата на сайте ekt.kz», разделы 7, 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Покажите последовательное уточнение, затем точный выбор карточки. Короткие числа без единиц требуют вопроса. Текущий поиск нельзя представлять как проверенный инженерный подбор.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lib/domain.ts refineQuery; app/api/assistant/route.ts. Требования: документ кейса HackAlem AI «ИИ-ассистент для чата на сайте ekt.kz», разделы 7, 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Новый пример взят из data/catalog.json, ID 515283. На слайде сохранённая цена и остаток. Живой показ должен обновить сведения через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data/catalog.json, ID 515283. Требования: документ кейса HackAlem AI «ИИ-ассистент для чата на сайте ekt.kz», разделы 7, 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объявляйте сертификаты показанными на реальном примере. В архиве есть код извлечения HTTPS-ссылок из полей сертификатов доменов EKT. Для полной демонстрации must-have нужна карточка с документом.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lib/domain.ts certificates; data/catalog.json; документ кейса 7.1. Требования: документ кейса HackAlem AI «ИИ-ассистент для чата на сайте ekt.kz», разделы 7, 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Опишите реализованные правила, но не выдавайте совпадение полей за гарантию взаимозаменяемости. В данных есть разные типы устройств с одинаковыми током и напряжением. Для промышленного внедрения нужны согласованные правила по категориям.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lib/domain.ts alternatives; документ кейса 7.2. Требования: документ кейса HackAlem AI «ИИ-ассистент для чата на сайте ekt.kz», разделы 7, 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Сервер содержит ответ по публичному источнику EKT. Не обещайте фиксированные сроки и тарифы, которых нет в источнике. Различайте кратность товара и минимальную сумму всего заказа.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app/api/assistant/route.ts buying; документ кейса 7.3. Требования: документ кейса HackAlem AI «ИИ-ассистент для чата на сайте ekt.kz», разделы 7, 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Арифметика примера: 2 умножить на 29810 равно 59620 тенге. Товар ID 515283. Используйте кнопку предложения, покажите согласуемую сумму и отсутствие добавления до подтверждения.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data/catalog.json; lib/workflows.ts stageChange. Требования: документ кейса HackAlem AI «ИИ-ассистент для чата на сайте ekt.kz», разделы 7, 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Покажите два пути: отмена сохраняет корзину, явное согласие запускает проверку. Одно предложение действует пять минут. Повторный запрос не должен дублировать действие.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lib/workflows.ts confirmChange; документ кейса 7.4. Требования: документ кейса HackAlem AI «ИИ-ассистент для чата на сайте ekt.kz», разделы 7, 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проверка на сохранённом примере ID 515283. При живом запуске используйте фактический остаток API плюс одну штуку. Не утверждайте, что сейчас на складе именно 16 единиц.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data/catalog.json, ID 515283; lib/workflows.ts. Требования: документ кейса HackAlem AI «ИИ-ассистент для чата на сайте ekt.kz», разделы 7, 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Нажмите ссылку после подтверждения и покажите совпадение товара, количества и суммы. Это самостоятельная корзина приложения. Для настоящей покупки нужна интеграция с ekt.kz.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lib/workflows.ts cartUrl; app/page.tsx; документ кейса 7.5. Требования: документ кейса HackAlem AI «ИИ-ассистент для чата на сайте ekt.kz», разделы 7, 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коде есть таблица разбора спецификации. Макросы и формулы не выполняются. До 60 строк, до 20 выбранных позиций в пакете. JPEG требует модели; сканы требуют OCR.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lib/extract.ts; lib/workflows.ts parseSpecification; app/features.tsx. Требования: документ кейса HackAlem AI «ИИ-ассистент для чата на сайте ekt.kz», разделы 7, 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Выберите город и покажите местное наличие. Фотография тематическая и не изображает склад Электрокомплекта. Для Астаны код учитывает прежнее название склада Нур-Султан.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lib/workflows.ts available; app/api/assistant/route.ts. Требования: документ кейса HackAlem AI «ИИ-ассистент для чата на сайте ekt.kz», разделы 7, 9, 10.</a:t>
            </a:r>
          </a:p>
          <a:p xmlns:a="http://schemas.openxmlformats.org/drawingml/2006/main">
            <a:r>
              <a:t>Фото: Ruchindra Gunasekara / Unsplash: https://unsplash.com/photos/GK8x_XCcDZg. Unsplash License. Тематическое изображение, не сотрудник или объект EKT.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Честно обозначьте текущий режим. Модель не задаёт цены и остатки и не принимает решение о записи в корзину. Полноценная работа модели без ключа не проверена.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app/api/assistant/route.ts; README.md «Подключение ИИ». Требования: документ кейса HackAlem AI «ИИ-ассистент для чата на сайте ekt.kz», разделы 7, 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Назовите технологии кратко, не перечисляйте библиотек без необходимости. Фото показывает стороннюю серверную инфраструктуру, а не развёртывание проекта или физический сервер Cloudflare.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README.md «Архитектура»; lib/store.ts. Требования: документ кейса HackAlem AI «ИИ-ассистент для чата на сайте ekt.kz», разделы 7, 9, 10.</a:t>
            </a:r>
          </a:p>
          <a:p xmlns:a="http://schemas.openxmlformats.org/drawingml/2006/main">
            <a:r>
              <a:t>Фото: imgix / Unsplash: https://unsplash.com/photos/klWUhr-wPJ8. Unsplash License. Тематическое изображение, не сотрудник или объект EKT.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Расскажите о предусмотренном поведении и покажите одну проверку на защите. Наличие кода и тестов не является аудитом безопасности или доказательством безошибочной эксплуатации.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lib/workflows.ts; app/api/assistant/route.ts; scripts/test-workflows.mjs. Требования: документ кейса HackAlem AI «ИИ-ассистент для чата на сайте ekt.kz», разделы 7, 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описание предусмотренных механизмов, не сертификат соответствия. Для внедрения нужны политика обработки данных, ограничения инфраструктуры и проверка безопасности.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lib/store.ts; app/api/assistant/route.ts; документ кейса 9. Требования: документ кейса HackAlem AI «ИИ-ассистент для чата на сайте ekt.kz», разделы 7, 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 для живого показа. На текущих данных сертификат не подтверждён, поэтому необходимо подготовить карточку с документом. Не выдавайте отсутствие ссылки за выполненную демонстрацию сертификата.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Документ кейса, раздел 7; CASE.md. Требования: документ кейса HackAlem AI «ИИ-ассистент для чата на сайте ekt.kz», разделы 7, 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Архив содержит исходники, README и тесты. Не заявляйте, что приложение уже установлено на ekt.kz. Бизнес-метрики пока не измерены.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README.md; CASE.md; документ кейса 10. Требования: документ кейса HackAlem AI «ИИ-ассистент для чата на сайте ekt.kz», разделы 7, 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 пилота: выбрать категории, эксперта для проверки аналогов, доступ к корзине и критерии приёмки. Не обещайте заранее процент роста продаж.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README.md; CASE.md. Требования: документ кейса HackAlem AI «ИИ-ассистент для чата на сайте ekt.kz», разделы 7, 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Репозиторий пользователя: https://github.com/BAITC-Hacks/hack-66bc5b7b-ctrl-z . Перед сдачей проверить доступ жюри. Основание презентации — последний переданный ZIP, а не проверенное текущее состояние удалённой ветки. Фото использованы тематически и не связаны с EKT. Источники фото в заметках соответствующих слайдов.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последний архив hack-66bc5b7b-ctrl-z-main (3).zip; README.md; CASE.md. Требования: документ кейса HackAlem AI «ИИ-ассистент для чата на сайте ekt.kz», разделы 7, 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5e918c6c5845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953f34a3b141d4" /><Relationship Type="http://schemas.openxmlformats.org/officeDocument/2006/relationships/slideLayout" Target="/ppt/slideLayouts/slideLayout1.xml" Id="R45b090c83f754d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b090c83f754d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06e5c4cd248dd" /><Relationship Type="http://schemas.openxmlformats.org/officeDocument/2006/relationships/image" Target="/ppt/media/image.jpeg" Id="R8639900a40c14b5c" /><Relationship Type="http://schemas.openxmlformats.org/officeDocument/2006/relationships/notesSlide" Target="/ppt/notesSlides/notesSlide1.xml" Id="R678615d9a91047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f1a252be24b59" /><Relationship Type="http://schemas.openxmlformats.org/officeDocument/2006/relationships/image" Target="/ppt/media/image2.jpeg" Id="Rcddfb0a7b9e74b91" /><Relationship Type="http://schemas.openxmlformats.org/officeDocument/2006/relationships/notesSlide" Target="/ppt/notesSlides/notesSlide2.xml" Id="R77156772356643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5ea42cac248d0" /><Relationship Type="http://schemas.openxmlformats.org/officeDocument/2006/relationships/notesSlide" Target="/ppt/notesSlides/notesSlide3.xml" Id="Re7f17ec50fc043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44c31ff314229" /><Relationship Type="http://schemas.openxmlformats.org/officeDocument/2006/relationships/notesSlide" Target="/ppt/notesSlides/notesSlide4.xml" Id="Rfd349692418645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2c1dc4ea442f2" /><Relationship Type="http://schemas.openxmlformats.org/officeDocument/2006/relationships/notesSlide" Target="/ppt/notesSlides/notesSlide5.xml" Id="Ra6c59d075fb144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17cc152964bff" /><Relationship Type="http://schemas.openxmlformats.org/officeDocument/2006/relationships/notesSlide" Target="/ppt/notesSlides/notesSlide6.xml" Id="R710862fb99f043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1db26aa3c4dd4" /><Relationship Type="http://schemas.openxmlformats.org/officeDocument/2006/relationships/notesSlide" Target="/ppt/notesSlides/notesSlide7.xml" Id="Rb97e2a85cca04a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488ab14924870" /><Relationship Type="http://schemas.openxmlformats.org/officeDocument/2006/relationships/notesSlide" Target="/ppt/notesSlides/notesSlide8.xml" Id="Rab5c13f6ae144f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9097472ba469a" /><Relationship Type="http://schemas.openxmlformats.org/officeDocument/2006/relationships/notesSlide" Target="/ppt/notesSlides/notesSlide9.xml" Id="R8c601551869d4d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8fa9508544fda" /><Relationship Type="http://schemas.openxmlformats.org/officeDocument/2006/relationships/notesSlide" Target="/ppt/notesSlides/notesSlide10.xml" Id="R2e6339b61d9f44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538ca56d14a1d" /><Relationship Type="http://schemas.openxmlformats.org/officeDocument/2006/relationships/notesSlide" Target="/ppt/notesSlides/notesSlide11.xml" Id="R56c0f111378449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67486b7164668" /><Relationship Type="http://schemas.openxmlformats.org/officeDocument/2006/relationships/notesSlide" Target="/ppt/notesSlides/notesSlide12.xml" Id="Ree215c2eced748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eb334f8e241a0" /><Relationship Type="http://schemas.openxmlformats.org/officeDocument/2006/relationships/notesSlide" Target="/ppt/notesSlides/notesSlide13.xml" Id="Rdbcc438401aa49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13d4de0bf4ebd" /><Relationship Type="http://schemas.openxmlformats.org/officeDocument/2006/relationships/image" Target="/ppt/media/image3.jpeg" Id="R53913ad695234905" /><Relationship Type="http://schemas.openxmlformats.org/officeDocument/2006/relationships/notesSlide" Target="/ppt/notesSlides/notesSlide14.xml" Id="Racde3408d6ba46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ef5ac5c774830" /><Relationship Type="http://schemas.openxmlformats.org/officeDocument/2006/relationships/notesSlide" Target="/ppt/notesSlides/notesSlide15.xml" Id="R4fbbbe55cd624a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9afbe669b4087" /><Relationship Type="http://schemas.openxmlformats.org/officeDocument/2006/relationships/image" Target="/ppt/media/image4.jpeg" Id="R48924420813545e4" /><Relationship Type="http://schemas.openxmlformats.org/officeDocument/2006/relationships/notesSlide" Target="/ppt/notesSlides/notesSlide16.xml" Id="R9a3bd9200c1745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dc4189d454338" /><Relationship Type="http://schemas.openxmlformats.org/officeDocument/2006/relationships/notesSlide" Target="/ppt/notesSlides/notesSlide17.xml" Id="Rf59313682db843e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49afcb8494f90" /><Relationship Type="http://schemas.openxmlformats.org/officeDocument/2006/relationships/notesSlide" Target="/ppt/notesSlides/notesSlide18.xml" Id="R6afc5ca12d004a9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c9b0fff684d76" /><Relationship Type="http://schemas.openxmlformats.org/officeDocument/2006/relationships/notesSlide" Target="/ppt/notesSlides/notesSlide19.xml" Id="R6e603a9edfce47c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34ef7359744f3" /><Relationship Type="http://schemas.openxmlformats.org/officeDocument/2006/relationships/notesSlide" Target="/ppt/notesSlides/notesSlide20.xml" Id="R9f1d0a4dc2be42b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d2c3eb2fb44c7" /><Relationship Type="http://schemas.openxmlformats.org/officeDocument/2006/relationships/notesSlide" Target="/ppt/notesSlides/notesSlide21.xml" Id="R47c191e394e841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ecfd0bb594c4b" /><Relationship Type="http://schemas.openxmlformats.org/officeDocument/2006/relationships/notesSlide" Target="/ppt/notesSlides/notesSlide22.xml" Id="R15e922ee05a641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4F75D-1426-4005-A3B8-1C457769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 / 22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9900a40c14b5c"/>
          <a:srcRect xmlns:a="http://schemas.openxmlformats.org/drawingml/2006/main" l="22764" t="0" r="227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19975" y="0"/>
            <a:ext cx="6296025" cy="7715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2EC68-0B62-4592-A462-4637850B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8625"/>
            <a:ext cx="653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HACKALEM AI  /  CTRL 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999A3-58F4-4A0A-93CA-D8873FFF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6810375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450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12450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EKT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EC0BD-E4EB-4EF9-893C-F94A1E97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38575"/>
            <a:ext cx="6696075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Консультант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выбора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электротоваров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31FF2-8D46-4B1D-A52F-12BD46B9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877050"/>
            <a:ext cx="6419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Кейс ТОО «Электрокомплект»</a:t>
            </a:r>
          </a:p>
        </p:txBody>
      </p:sp>
    </p:spTree>
    <p:extLst>
      <p:ext uri="{BB962C8B-B14F-4D97-AF65-F5344CB8AC3E}">
        <p14:creationId xmlns:p14="http://schemas.microsoft.com/office/powerpoint/2010/main" val="6630654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FF096-6ABB-4F7A-A9E9-7029886E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01  ПОКУПАТЕЛЬ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A5463-1C6F-4D18-93AE-0AC997B3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До покупки остаются вопросы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F5C1D-E19C-45D6-94E1-36CCB76C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02 / 22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fb0a7b9e74b91"/>
          <a:srcRect xmlns:a="http://schemas.openxmlformats.org/drawingml/2006/main" l="0" t="2824" r="0" b="2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609850"/>
            <a:ext cx="6238875" cy="3924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EA8CD-1E1C-43DC-A323-B1D93C1F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714625"/>
            <a:ext cx="5429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44FD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244FDB"/>
                </a:solidFill>
                <a:latin typeface="Arial"/>
                <a:ea typeface="Arial"/>
                <a:cs typeface="Arial"/>
              </a:rPr>
              <a:t>Что подходит?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220FA-3DAD-49BB-943C-4724BA54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762375"/>
            <a:ext cx="5429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44FD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244FDB"/>
                </a:solidFill>
                <a:latin typeface="Arial"/>
                <a:ea typeface="Arial"/>
                <a:cs typeface="Arial"/>
              </a:rPr>
              <a:t>Есть в наличии?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55433-26C6-4F5B-82E6-E1E776D3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810125"/>
            <a:ext cx="5429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44FD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244FDB"/>
                </a:solidFill>
                <a:latin typeface="Arial"/>
                <a:ea typeface="Arial"/>
                <a:cs typeface="Arial"/>
              </a:rPr>
              <a:t>Чем заменить?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2AEF9-B03D-4DD8-8A50-2BFA5D70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029325"/>
            <a:ext cx="5334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Чат помогает получить сведения для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18265910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18C92-6B4C-458D-A5AF-FE68CA9C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02  ТРЕБОВАНИЯ КЕЙСА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453AD-55F6-4B96-B37A-2F55B291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Пять обязательных результатов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56FA1-D737-46A9-81EB-22066463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03 / 22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2600325"/>
          <a:ext xmlns:a="http://schemas.openxmlformats.org/drawingml/2006/main" cx="12382500" cy="3819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8763000"/>
              </a:tblGrid>
              <a:tr h="63658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Сценарий</a:t>
                      </a:r>
                    </a:p>
                  </a:txBody>
                  <a:tcPr marL="91440" marR="91440" marT="45720" marB="45720">
                    <a:solidFill>
                      <a:srgbClr val="244F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Ожидаемый результат</a:t>
                      </a:r>
                    </a:p>
                  </a:txBody>
                  <a:tcPr marL="91440" marR="91440" marT="45720" marB="45720">
                    <a:solidFill>
                      <a:srgbClr val="244FDB"/>
                    </a:solidFill>
                  </a:tcPr>
                </a:tc>
              </a:tr>
              <a:tr h="6365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Товар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Наличие, характеристики, сертификат при наличии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65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Замена</a:t>
                      </a:r>
                    </a:p>
                  </a:txBody>
                  <a:tcPr marL="91440" marR="91440" marT="45720" marB="45720">
                    <a:solidFill>
                      <a:srgbClr val="E9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Кандидат и объяснение подбора</a:t>
                      </a:r>
                    </a:p>
                  </a:txBody>
                  <a:tcPr marL="91440" marR="91440" marT="45720" marB="45720">
                    <a:solidFill>
                      <a:srgbClr val="E9EDE3"/>
                    </a:solidFill>
                  </a:tcPr>
                </a:tc>
              </a:tr>
              <a:tr h="6365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Покупка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Ответ об оплате, доставке и минимальной партии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65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Действие</a:t>
                      </a:r>
                    </a:p>
                  </a:txBody>
                  <a:tcPr marL="91440" marR="91440" marT="45720" marB="45720">
                    <a:solidFill>
                      <a:srgbClr val="E9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Явное согласие и проверка количества</a:t>
                      </a:r>
                    </a:p>
                  </a:txBody>
                  <a:tcPr marL="91440" marR="91440" marT="45720" marB="45720">
                    <a:solidFill>
                      <a:srgbClr val="E9EDE3"/>
                    </a:solidFill>
                  </a:tcPr>
                </a:tc>
              </a:tr>
              <a:tr h="6365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Завершение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Ссылка на актуальную корзину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467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44F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D327D-BAF6-4176-88CF-78BDFC20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ПРИМЕР РАЗГОВОРА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9355E-6012-428B-8291-1558D932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Диалог уточняет потребность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0C79C-C729-4F3F-BD82-74A46CF9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3DDEB-6C3E-4D04-B029-69E72952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Покупатель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CA0FE-C2FE-4D3D-B448-D471E796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1715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«Нужен автомат Legrand»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9A2CE-3848-44E7-8A44-2E1A8190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Уточнение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72BAB-0579-4EB0-B0AE-522AC0A3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1334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«40 А, 3 полюса»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C2EB9-9626-4190-9C77-3F58BEF1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57975"/>
            <a:ext cx="1181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Сценарный пример. Результаты нужно сверить с карточкой товара.</a:t>
            </a:r>
          </a:p>
        </p:txBody>
      </p:sp>
    </p:spTree>
    <p:extLst>
      <p:ext uri="{BB962C8B-B14F-4D97-AF65-F5344CB8AC3E}">
        <p14:creationId xmlns:p14="http://schemas.microsoft.com/office/powerpoint/2010/main" val="19591551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6FE34-1149-444A-8C74-D23D93E3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04  КАТАЛОГ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54929-56EB-4F19-BEBD-97C0EFC3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Карточка содержит проверяемые факты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EC262-D488-4777-A4FC-A2518A50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05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0BC85-D400-4EC1-80B8-945A97E9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68199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75" b="1">
                <a:solidFill>
                  <a:srgbClr val="244FDB"/>
                </a:solidFill>
                <a:latin typeface="Arial"/>
                <a:ea typeface="Arial"/>
                <a:cs typeface="Arial"/>
              </a:defRPr>
            </a:pPr>
            <a:r>
              <a:rPr sz="7575" b="1">
                <a:solidFill>
                  <a:srgbClr val="244FDB"/>
                </a:solidFill>
                <a:latin typeface="Arial"/>
                <a:ea typeface="Arial"/>
                <a:cs typeface="Arial"/>
              </a:rPr>
              <a:t>027024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FAEDA-23E1-4826-9BA5-47F85AE1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6429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Legrand DRX125 MT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ADB84-B563-48D6-A1DF-118D4EDB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86350"/>
            <a:ext cx="60864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635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8635C"/>
                </a:solidFill>
                <a:latin typeface="Arial"/>
                <a:ea typeface="Arial"/>
                <a:cs typeface="Arial"/>
              </a:rPr>
              <a:t>ID 515283</a:t>
            </a:r>
          </a:p>
          <a:p xmlns:a="http://schemas.openxmlformats.org/drawingml/2006/main">
            <a:pPr>
              <a:defRPr sz="2175" b="0">
                <a:solidFill>
                  <a:srgbClr val="58635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8635C"/>
                </a:solidFill>
                <a:latin typeface="Arial"/>
                <a:ea typeface="Arial"/>
                <a:cs typeface="Arial"/>
              </a:rPr>
              <a:t>Артикул 200300277_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6CA10-12DE-4CF6-9313-9EC95A3E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14625"/>
            <a:ext cx="5372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40 А    3 полюса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3F268-40F7-43D4-912D-CF23FCFA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590925"/>
            <a:ext cx="53625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400 В    20 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4338D-43DA-41C3-8B1D-884A9F83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695825"/>
            <a:ext cx="54197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44FD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44FDB"/>
                </a:solidFill>
                <a:latin typeface="Arial"/>
                <a:ea typeface="Arial"/>
                <a:cs typeface="Arial"/>
              </a:rPr>
              <a:t>29 810 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4D2BA-BCF6-4581-BE51-6C04A0FE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753100"/>
            <a:ext cx="5295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16 шт. в снимке каталога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BAAFD-4567-41BF-9E59-2634354E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81800"/>
            <a:ext cx="11763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63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35C"/>
                </a:solidFill>
                <a:latin typeface="Arial"/>
                <a:ea typeface="Arial"/>
                <a:cs typeface="Arial"/>
              </a:rPr>
              <a:t>Данные из архива от 23.09.2026. Текущая цена и остаток могут отличаться.</a:t>
            </a:r>
          </a:p>
        </p:txBody>
      </p:sp>
    </p:spTree>
    <p:extLst>
      <p:ext uri="{BB962C8B-B14F-4D97-AF65-F5344CB8AC3E}">
        <p14:creationId xmlns:p14="http://schemas.microsoft.com/office/powerpoint/2010/main" val="1801715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CAEF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7A4AB-F7A8-4B95-B14E-E7C8E86B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05  ДОКУМЕНТЫ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9B714-4AEF-4202-ABD1-E29EF54B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Сертификат требует источника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77E0D-470C-41B5-ADD3-E477931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06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913F1-6B7A-48DF-BC23-B5EBCB97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12420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Ссылка из каталога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F4385-2978-4191-B17B-13FF5299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1811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При наличии документа ассистент должен показать его.</a:t>
            </a:r>
          </a:p>
          <a:p xmlns:a="http://schemas.openxmlformats.org/drawingml/2006/main">
            <a:pPr>
              <a:defRPr sz="2850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Если ссылки нет, он сообщает об отсутствии данных.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50F50-EFAA-43C0-BA64-78737B4C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77000"/>
            <a:ext cx="1171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В текущей выборке нет подходящих ссылок для проверки этого сценария.</a:t>
            </a:r>
          </a:p>
        </p:txBody>
      </p:sp>
    </p:spTree>
    <p:extLst>
      <p:ext uri="{BB962C8B-B14F-4D97-AF65-F5344CB8AC3E}">
        <p14:creationId xmlns:p14="http://schemas.microsoft.com/office/powerpoint/2010/main" val="11835836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5D29B-8E91-4957-BC96-E7A5EFD9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06  АНАЛОГИ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BA7E9-7CB8-441A-BCEF-F546B2D4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Замена начинается с параметров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795ED-2D75-432B-BC17-8DD18947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07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B94FC-41C8-4B24-8728-F4E29590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162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Группа каталога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8B64A-B6E3-4484-B004-3C35D3DF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647950"/>
            <a:ext cx="855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Кандидат должен относиться к той же группе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F00AB-87B7-4AFB-9779-CB9F67D1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3162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Совпадения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07CEC-D4B6-424A-BE15-8A6D603E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581400"/>
            <a:ext cx="855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Алгоритм требует минимум два известных совпадения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385E7-EBD6-4955-9ED8-36581F92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3162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Противоречия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33BC8-CE6D-45D0-A6BA-2E621D7F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14850"/>
            <a:ext cx="855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Известное расхождение исключает кандидата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C0C66-2A16-4AC6-9A59-C07AD91D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3162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Объяснение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45C2D-CAF0-49D2-8B00-DEE27DE9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448300"/>
            <a:ext cx="855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Ответ перечисляет совпавшие характеристики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94B04-960B-42C8-93CE-5276D41F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43700"/>
            <a:ext cx="1162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Назначение и совместимость подтверждает специалист.</a:t>
            </a:r>
          </a:p>
        </p:txBody>
      </p:sp>
    </p:spTree>
    <p:extLst>
      <p:ext uri="{BB962C8B-B14F-4D97-AF65-F5344CB8AC3E}">
        <p14:creationId xmlns:p14="http://schemas.microsoft.com/office/powerpoint/2010/main" val="2179516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AB13F-8012-4253-8504-16CF818E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07  ОПЛАТА И ДОСТАВКА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9F637-C123-4920-902F-19AF444D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Условия покупки тоже входят в ответ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B3D44-7847-4FAD-863C-81EBF3E3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08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2A12B-2738-4A48-92F3-B58C653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244FDB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244FDB"/>
                </a:solidFill>
                <a:latin typeface="Arial"/>
                <a:ea typeface="Arial"/>
                <a:cs typeface="Arial"/>
              </a:rPr>
              <a:t>Оплата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3ED3E-263E-41BD-BFA9-016DF497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57600"/>
            <a:ext cx="5410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Способы оплаты для физических</a:t>
            </a:r>
          </a:p>
          <a:p xmlns:a="http://schemas.openxmlformats.org/drawingml/2006/main">
            <a:pPr>
              <a:defRPr sz="232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и юридических лиц.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DB7FA-E3DF-412F-8EC3-25D5DC17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622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244FDB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244FDB"/>
                </a:solidFill>
                <a:latin typeface="Arial"/>
                <a:ea typeface="Arial"/>
                <a:cs typeface="Arial"/>
              </a:rPr>
              <a:t>Получение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5EE48-1AA7-4077-9AAC-648105E1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57600"/>
            <a:ext cx="5391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Самовывоз и доставка.</a:t>
            </a:r>
          </a:p>
          <a:p xmlns:a="http://schemas.openxmlformats.org/drawingml/2006/main">
            <a:pPr>
              <a:defRPr sz="232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Стоимость и сроки уточняются.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80DC3-3D98-460C-B2F6-818B60ED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00675"/>
            <a:ext cx="5715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Минимальная партия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63440-B1BC-403C-BE01-99716FB0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118491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Кратность позиции из каталога. Общие ограничения нужно согласовать.</a:t>
            </a:r>
          </a:p>
        </p:txBody>
      </p:sp>
    </p:spTree>
    <p:extLst>
      <p:ext uri="{BB962C8B-B14F-4D97-AF65-F5344CB8AC3E}">
        <p14:creationId xmlns:p14="http://schemas.microsoft.com/office/powerpoint/2010/main" val="6609970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3FC76-C00B-4F83-86B4-F1108235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08  ПРЕДЛОЖЕНИЕ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DF5C0-891E-4638-A1D7-BB450591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Покупатель видит сумму до согласия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8E3DA-58DD-41A2-85A9-F5FAE108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09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BCE81-0453-44A6-8322-401D42FB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71775"/>
            <a:ext cx="124491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75" b="1">
                <a:solidFill>
                  <a:srgbClr val="244FDB"/>
                </a:solidFill>
                <a:latin typeface="Arial"/>
                <a:ea typeface="Arial"/>
                <a:cs typeface="Arial"/>
              </a:defRPr>
            </a:pPr>
            <a:r>
              <a:rPr sz="7575" b="1">
                <a:solidFill>
                  <a:srgbClr val="244FDB"/>
                </a:solidFill>
                <a:latin typeface="Arial"/>
                <a:ea typeface="Arial"/>
                <a:cs typeface="Arial"/>
              </a:rPr>
              <a:t>2 × 29 810 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73ECF-0C93-4392-830D-7B1359AA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57725"/>
            <a:ext cx="117919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59 620 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CC7BB-1703-400A-A144-FA34B1A5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286500"/>
            <a:ext cx="117252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Пример: две штуки ID 515283 по цене снимка.</a:t>
            </a:r>
          </a:p>
          <a:p xmlns:a="http://schemas.openxmlformats.org/drawingml/2006/main">
            <a:pPr>
              <a:defRPr sz="2100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Предложение ещё не меняет корзину.</a:t>
            </a:r>
          </a:p>
        </p:txBody>
      </p:sp>
    </p:spTree>
    <p:extLst>
      <p:ext uri="{BB962C8B-B14F-4D97-AF65-F5344CB8AC3E}">
        <p14:creationId xmlns:p14="http://schemas.microsoft.com/office/powerpoint/2010/main" val="12059565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44F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D1671-7819-461C-8CCA-4E11E2B3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  СОГЛАСИЕ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90C3E-CEC3-4EA2-9535-D1868DBC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Подтверждение относится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 конкретному предложению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CE82C-B562-40E2-B097-CD9294C3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FA8CC-AC2C-4248-B716-6FCF8728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2382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«Да, добавь»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15FBE-0CA9-4548-B6FA-E6EB17FB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201102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Сервер снова получает цену и остаток.</a:t>
            </a:r>
          </a:p>
          <a:p xmlns:a="http://schemas.openxmlformats.org/drawingml/2006/main">
            <a:pPr>
              <a:defRPr sz="27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 изменении цены запрашивает новое согласие.</a:t>
            </a:r>
          </a:p>
        </p:txBody>
      </p:sp>
    </p:spTree>
    <p:extLst>
      <p:ext uri="{BB962C8B-B14F-4D97-AF65-F5344CB8AC3E}">
        <p14:creationId xmlns:p14="http://schemas.microsoft.com/office/powerpoint/2010/main" val="2625351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A61E8-74BF-4F30-9601-56C42997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10  ПРОВЕРКА ДЕЙСТВИЯ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972B1-69F6-46BE-92F9-540C8E70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Количество ограничено остатком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29D15-388E-41E1-BF28-5DFFBCF8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11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D1BE6-3CBB-493A-952B-93274B27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0325"/>
            <a:ext cx="5429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675" b="1">
                <a:solidFill>
                  <a:srgbClr val="244FDB"/>
                </a:solidFill>
                <a:latin typeface="Arial"/>
                <a:ea typeface="Arial"/>
                <a:cs typeface="Arial"/>
              </a:defRPr>
            </a:pPr>
            <a:r>
              <a:rPr sz="9675" b="1">
                <a:solidFill>
                  <a:srgbClr val="244FD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EFB46-6883-4776-806E-67244D0E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10075"/>
            <a:ext cx="535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запрошено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C1D4D-CB0A-4FD7-BBDF-1A0EAB2D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00325"/>
            <a:ext cx="53721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675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9675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1D62C-811D-4E67-9A8B-C20AEE16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10075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в снимке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B34D0-BF6E-488D-B75E-524161F1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19157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В этом примере добавление должно завершиться отказом.</a:t>
            </a:r>
          </a:p>
        </p:txBody>
      </p:sp>
    </p:spTree>
    <p:extLst>
      <p:ext uri="{BB962C8B-B14F-4D97-AF65-F5344CB8AC3E}">
        <p14:creationId xmlns:p14="http://schemas.microsoft.com/office/powerpoint/2010/main" val="5718724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823DA-2C20-495E-9C8A-4534759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11 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DCE07-7B00-4030-AA50-B370B7A4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После добавления открывается корзина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CC285-67F2-43E6-B6F2-D52319E8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883C3-F1F5-4B9A-8CA1-4003AAEC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22777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9900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/#cart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E8A50-C85E-4FD4-AA43-CDF52823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91075"/>
            <a:ext cx="114204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Товары и количество сохраняются</a:t>
            </a:r>
          </a:p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 той же сессии покупателя.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3F9F3-AD34-4F99-8D2F-F38635C9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86550"/>
            <a:ext cx="1171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Корзина прототипа демонстрационная. Реального заказа и резервирования нет.</a:t>
            </a:r>
          </a:p>
        </p:txBody>
      </p:sp>
    </p:spTree>
    <p:extLst>
      <p:ext uri="{BB962C8B-B14F-4D97-AF65-F5344CB8AC3E}">
        <p14:creationId xmlns:p14="http://schemas.microsoft.com/office/powerpoint/2010/main" val="10809760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5A1C7-E850-4590-B25D-7427645C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12  СПЕЦИФИКАЦИЯ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A8278-4F3F-4D69-9DFE-128BAE55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Закупщик начинает со списка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A374C-43C9-4524-BBE0-AB7C8D4A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13 / 22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628900"/>
          <a:ext xmlns:a="http://schemas.openxmlformats.org/drawingml/2006/main" cx="12382500" cy="2990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7524750"/>
              </a:tblGrid>
              <a:tr h="7477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Вход</a:t>
                      </a:r>
                    </a:p>
                  </a:txBody>
                  <a:tcPr marL="91440" marR="91440" marT="45720" marB="45720">
                    <a:solidFill>
                      <a:srgbClr val="244F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покупателем</a:t>
                      </a:r>
                    </a:p>
                  </a:txBody>
                  <a:tcPr marL="91440" marR="91440" marT="45720" marB="45720">
                    <a:solidFill>
                      <a:srgbClr val="244FDB"/>
                    </a:solidFill>
                  </a:tcPr>
                </a:tc>
              </a:tr>
              <a:tr h="7477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Артикул и количество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Совпадение товара и число единиц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77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Неоднозначная строка</a:t>
                      </a:r>
                    </a:p>
                  </a:txBody>
                  <a:tcPr marL="91440" marR="91440" marT="45720" marB="45720">
                    <a:solidFill>
                      <a:srgbClr val="E9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Ручной выбор подходящей позиции</a:t>
                      </a:r>
                    </a:p>
                  </a:txBody>
                  <a:tcPr marL="91440" marR="91440" marT="45720" marB="45720">
                    <a:solidFill>
                      <a:srgbClr val="E9EDE3"/>
                    </a:solidFill>
                  </a:tcPr>
                </a:tc>
              </a:tr>
              <a:tr h="7477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Не найдено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Уточнение строки или обращение менеджеру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B857E-8338-4C43-A099-FE5E35AE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1176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4FD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4FDB"/>
                </a:solidFill>
                <a:latin typeface="Arial"/>
                <a:ea typeface="Arial"/>
                <a:cs typeface="Arial"/>
              </a:rPr>
              <a:t>DOCX, XLSX, текстовый PDF, TXT и CSV</a:t>
            </a:r>
          </a:p>
        </p:txBody>
      </p:sp>
    </p:spTree>
    <p:extLst>
      <p:ext uri="{BB962C8B-B14F-4D97-AF65-F5344CB8AC3E}">
        <p14:creationId xmlns:p14="http://schemas.microsoft.com/office/powerpoint/2010/main" val="11301919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7CA14-DAC2-4AFB-8F36-63C8898B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14 / 22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13ad695234905"/>
          <a:srcRect xmlns:a="http://schemas.openxmlformats.org/drawingml/2006/main" l="1687" t="0" r="16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591175" cy="7715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37AA3-DF88-4265-AB6E-B7D93A54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47675"/>
            <a:ext cx="6791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4FD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4FDB"/>
                </a:solidFill>
                <a:latin typeface="Arial"/>
                <a:ea typeface="Arial"/>
                <a:cs typeface="Arial"/>
              </a:rPr>
              <a:t>13  ГОРОД И СКЛАД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F85A6-AD3A-4CD4-B92B-637DB03C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85900"/>
            <a:ext cx="687705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Нужный товар</a:t>
            </a:r>
          </a:p>
          <a:p xmlns:a="http://schemas.openxmlformats.org/drawingml/2006/main">
            <a:pPr>
              <a:defRPr sz="4275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в нужном городе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50F57-BEFE-48B9-8A65-50E3E0D7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65151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Выбранный город определяет</a:t>
            </a:r>
          </a:p>
          <a:p xmlns:a="http://schemas.openxmlformats.org/drawingml/2006/main">
            <a:pPr>
              <a:defRPr sz="2550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показываемые местные остатки.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48CF9-656A-412C-919A-41EF5A97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895975"/>
            <a:ext cx="64579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63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35C"/>
                </a:solidFill>
                <a:latin typeface="Arial"/>
                <a:ea typeface="Arial"/>
                <a:cs typeface="Arial"/>
              </a:rPr>
              <a:t>Смена города отменяет ожидающее</a:t>
            </a:r>
          </a:p>
          <a:p xmlns:a="http://schemas.openxmlformats.org/drawingml/2006/main">
            <a:pPr>
              <a:defRPr sz="2100" b="0">
                <a:solidFill>
                  <a:srgbClr val="5863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35C"/>
                </a:solidFill>
                <a:latin typeface="Arial"/>
                <a:ea typeface="Arial"/>
                <a:cs typeface="Arial"/>
              </a:rPr>
              <a:t>подтверждение и не меняет корзину.</a:t>
            </a:r>
          </a:p>
        </p:txBody>
      </p:sp>
    </p:spTree>
    <p:extLst>
      <p:ext uri="{BB962C8B-B14F-4D97-AF65-F5344CB8AC3E}">
        <p14:creationId xmlns:p14="http://schemas.microsoft.com/office/powerpoint/2010/main" val="17589608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CAEF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97F97-41DE-45C7-83B2-6A2F5E79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14  ИИ В ПРОЕКТЕ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3405A-9582-4EC0-9E2E-3C3CEFA8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Роли модели и сервера различаются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BE5CF-4FC6-4E89-89E5-72CEB853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15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857D4-1FD2-430D-89F0-783C7A89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53911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19D43-F791-4F15-9035-401B2399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14750"/>
            <a:ext cx="54102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Преобразует сообщение</a:t>
            </a:r>
          </a:p>
          <a:p xmlns:a="http://schemas.openxmlformats.org/drawingml/2006/main">
            <a:pPr>
              <a:defRPr sz="27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в поисковый запрос.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2E94A-C07D-46D5-A0FD-6E0B97B4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7652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Сервер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6445A-F46C-4DFA-B82F-EF0A06BB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714750"/>
            <a:ext cx="54102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Берёт факты из каталога</a:t>
            </a:r>
          </a:p>
          <a:p xmlns:a="http://schemas.openxmlformats.org/drawingml/2006/main">
            <a:pPr>
              <a:defRPr sz="27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и контролирует корзину.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04FE3-C834-4C19-9C09-1FB36145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86525"/>
            <a:ext cx="117252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Адаптер подготовлен. Без ключа работают поиск и шаблонные ответы.</a:t>
            </a:r>
          </a:p>
        </p:txBody>
      </p:sp>
    </p:spTree>
    <p:extLst>
      <p:ext uri="{BB962C8B-B14F-4D97-AF65-F5344CB8AC3E}">
        <p14:creationId xmlns:p14="http://schemas.microsoft.com/office/powerpoint/2010/main" val="12593594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D4C46-CC4A-4E0F-854C-F10EC63A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 / 22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24420813545e4"/>
          <a:srcRect xmlns:a="http://schemas.openxmlformats.org/drawingml/2006/main" l="25052" t="0" r="250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457950" cy="7715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0F8CF-D7FD-4F80-B2D2-8B76A5D7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66725"/>
            <a:ext cx="598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15  УСТРОЙСТВО СЕРВИСА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C43EA-0E11-4A98-A7BF-C4369AF5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52550"/>
            <a:ext cx="60579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Интерфейс</a:t>
            </a:r>
          </a:p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серверные</a:t>
            </a:r>
          </a:p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правила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AD774-B22C-4627-A8A0-F7E65326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24350"/>
            <a:ext cx="56673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показывает результат.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Worker обращается к API.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D1 хранит сессию и корзину.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8E7B5-6BFC-42AD-9420-74458CC6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6791325"/>
            <a:ext cx="5495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Тематическое фото инфраструктуры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18831012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C84CA-381A-407B-812C-6580034B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16  НАДЁЖНОСТЬ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E4C3D-5F66-411B-A0C8-3795A279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Ошибки не должны менять покупку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9CAFA-22EF-4939-863D-45DA77FA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17 / 22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2571750"/>
          <a:ext xmlns:a="http://schemas.openxmlformats.org/drawingml/2006/main" cx="12382500" cy="3609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67225"/>
                <a:gridCol w="7915275"/>
              </a:tblGrid>
              <a:tr h="72199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Ситуация</a:t>
                      </a:r>
                    </a:p>
                  </a:txBody>
                  <a:tcPr marL="91440" marR="91440" marT="45720" marB="45720">
                    <a:solidFill>
                      <a:srgbClr val="244F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Предусмотренная реакция</a:t>
                      </a:r>
                    </a:p>
                  </a:txBody>
                  <a:tcPr marL="91440" marR="91440" marT="45720" marB="45720">
                    <a:solidFill>
                      <a:srgbClr val="244FDB"/>
                    </a:solidFill>
                  </a:tcPr>
                </a:tc>
              </a:tr>
              <a:tr h="72199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Каталог недоступен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Чтение снимка с пометкой, добавление блокируется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199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Цена изменилась</a:t>
                      </a:r>
                    </a:p>
                  </a:txBody>
                  <a:tcPr marL="91440" marR="91440" marT="45720" marB="45720">
                    <a:solidFill>
                      <a:srgbClr val="E9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Новое предложение и повторное согласие</a:t>
                      </a:r>
                    </a:p>
                  </a:txBody>
                  <a:tcPr marL="91440" marR="91440" marT="45720" marB="45720">
                    <a:solidFill>
                      <a:srgbClr val="E9EDE3"/>
                    </a:solidFill>
                  </a:tcPr>
                </a:tc>
              </a:tr>
              <a:tr h="72199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Пользователь отменил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Корзина остаётся прежней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199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Подтверждение просрочено</a:t>
                      </a:r>
                    </a:p>
                  </a:txBody>
                  <a:tcPr marL="91440" marR="91440" marT="45720" marB="45720">
                    <a:solidFill>
                      <a:srgbClr val="E9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Нужно подготовить новое предложение</a:t>
                      </a:r>
                    </a:p>
                  </a:txBody>
                  <a:tcPr marL="91440" marR="91440" marT="45720" marB="45720">
                    <a:solidFill>
                      <a:srgbClr val="E9EDE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9818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EDBE3-D9CD-4C18-9A6F-874DB4A4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17  ОГРАНИЧЕНИЯ КЕЙСА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A8CCE-F1A0-4158-A7EB-FA632AE9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Приватность встроена в сценарий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95602-A93C-4E23-999F-30C4B7E9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18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15966-C8D6-405A-8C07-DB5596E8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3162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4FD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4FDB"/>
                </a:solidFill>
                <a:latin typeface="Arial"/>
                <a:ea typeface="Arial"/>
                <a:cs typeface="Arial"/>
              </a:rPr>
              <a:t>Доступы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8535C-23CD-42CA-B1F2-8B9EF01C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600325"/>
            <a:ext cx="855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Пароль API и ключ модели остаются на сервере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9968D-37EE-489D-9CB1-B4CD6FAE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162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4FD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4FDB"/>
                </a:solidFill>
                <a:latin typeface="Arial"/>
                <a:ea typeface="Arial"/>
                <a:cs typeface="Arial"/>
              </a:rPr>
              <a:t>Действия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4941F-4405-48B0-BE16-CBA8BDD1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543300"/>
            <a:ext cx="855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Сессия, Origin и токен подтверждения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73542-683E-493A-988A-530510CC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3162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4FD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4FDB"/>
                </a:solidFill>
                <a:latin typeface="Arial"/>
                <a:ea typeface="Arial"/>
                <a:cs typeface="Arial"/>
              </a:rPr>
              <a:t>История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F4029-3E03-4ABA-9BC0-F933597C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86275"/>
            <a:ext cx="855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Временное хранение в пределах 24 часов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5E1E5-F8AF-4657-BC9C-726A46EF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3162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4FD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4FDB"/>
                </a:solidFill>
                <a:latin typeface="Arial"/>
                <a:ea typeface="Arial"/>
                <a:cs typeface="Arial"/>
              </a:rPr>
              <a:t>Платёжные данные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A35E0-07CB-4274-A243-311511B4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429250"/>
            <a:ext cx="855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Ассистент не запрашивает реквизиты карты</a:t>
            </a:r>
          </a:p>
        </p:txBody>
      </p:sp>
    </p:spTree>
    <p:extLst>
      <p:ext uri="{BB962C8B-B14F-4D97-AF65-F5344CB8AC3E}">
        <p14:creationId xmlns:p14="http://schemas.microsoft.com/office/powerpoint/2010/main" val="1607680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244F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8071C-EA1B-4CCF-9AE9-95AD5D0B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  СЦЕНАРИЙ ЗАЩИТЫ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6E3AA-6004-4F80-B0E7-93081DDE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Показ по критериям жюри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CD3A7-2544-4BF4-A6C8-41B634DB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19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14BD3-B4D8-48FA-9323-E3B46C76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162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Товар и документы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AACDC-75F4-481D-9DBA-ACEB41A8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647950"/>
            <a:ext cx="855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Открыть карточку и проверить источник сертификата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A5061-CFB0-4F6B-B754-CAB90318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3162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Замена и условия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122D3-48A6-46D9-AE6B-D14EE066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590925"/>
            <a:ext cx="855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Показать обоснование и ответ об оплате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3D5EA-145E-48FE-A4BD-F79E6754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3162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Без согласия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53A9F-93A7-4283-B8F9-4063D0C5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33900"/>
            <a:ext cx="855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Подготовить предложение, затем отменить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3DA00-0ED2-4BE6-8C63-EC2C013F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3162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После согласия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790A6-AD96-4548-A8A3-5289BD2B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476875"/>
            <a:ext cx="855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Подтвердить, открыть корзину и сверить количество</a:t>
            </a:r>
          </a:p>
        </p:txBody>
      </p:sp>
    </p:spTree>
    <p:extLst>
      <p:ext uri="{BB962C8B-B14F-4D97-AF65-F5344CB8AC3E}">
        <p14:creationId xmlns:p14="http://schemas.microsoft.com/office/powerpoint/2010/main" val="7124246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C4640-2AAC-47CA-B9A7-9E005D67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19  ТЕКУЩИЙ СТАТУС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BC660-62D5-4178-9776-9B7A699A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Готовность к интеграции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B2874-EEA8-4FF6-9737-097BC767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20 / 22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571750"/>
          <a:ext xmlns:a="http://schemas.openxmlformats.org/drawingml/2006/main" cx="12382500" cy="3495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6191250"/>
              </a:tblGrid>
              <a:tr h="69913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Уже есть в архиве</a:t>
                      </a:r>
                    </a:p>
                  </a:txBody>
                  <a:tcPr marL="91440" marR="91440" marT="45720" marB="45720">
                    <a:solidFill>
                      <a:srgbClr val="244F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Нужно для внедрения</a:t>
                      </a:r>
                    </a:p>
                  </a:txBody>
                  <a:tcPr marL="91440" marR="91440" marT="45720" marB="45720">
                    <a:solidFill>
                      <a:srgbClr val="244FDB"/>
                    </a:solidFill>
                  </a:tcPr>
                </a:tc>
              </a:tr>
              <a:tr h="69913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Подбор и спецификации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Проверенные правила совместимости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913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Демонстрационная корзина</a:t>
                      </a:r>
                    </a:p>
                  </a:txBody>
                  <a:tcPr marL="91440" marR="91440" marT="45720" marB="45720">
                    <a:solidFill>
                      <a:srgbClr val="E9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API корзины и сессия ekt.kz</a:t>
                      </a:r>
                    </a:p>
                  </a:txBody>
                  <a:tcPr marL="91440" marR="91440" marT="45720" marB="45720">
                    <a:solidFill>
                      <a:srgbClr val="E9EDE3"/>
                    </a:solidFill>
                  </a:tcPr>
                </a:tc>
              </a:tr>
              <a:tr h="69913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Страница и виджет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Установка в реальный магазин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913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Адаптер модели и тесты</a:t>
                      </a:r>
                    </a:p>
                  </a:txBody>
                  <a:tcPr marL="91440" marR="91440" marT="45720" marB="45720">
                    <a:solidFill>
                      <a:srgbClr val="E9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1713"/>
                          </a:solidFill>
                          <a:latin typeface="Arial"/>
                          <a:ea typeface="Arial"/>
                          <a:cs typeface="Arial"/>
                        </a:rPr>
                        <a:t>Подключение модели и сквозная проверка</a:t>
                      </a:r>
                    </a:p>
                  </a:txBody>
                  <a:tcPr marL="91440" marR="91440" marT="45720" marB="45720">
                    <a:solidFill>
                      <a:srgbClr val="E9EDE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6B146-5700-4E07-8D7A-8F5C70B0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05575"/>
            <a:ext cx="117443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Пилот должен измерить точность, задержку ответа и обращения без менеджера.</a:t>
            </a:r>
          </a:p>
        </p:txBody>
      </p:sp>
    </p:spTree>
    <p:extLst>
      <p:ext uri="{BB962C8B-B14F-4D97-AF65-F5344CB8AC3E}">
        <p14:creationId xmlns:p14="http://schemas.microsoft.com/office/powerpoint/2010/main" val="3225890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32163-6670-4EBC-ABE0-F274838A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20  ПИЛОТ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B8A7C-D150-470A-A509-54067DB1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Следующий шаг с Электрокомплектом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7D884-C1ED-4C83-8E99-DFAC65D1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EEEE7-EF63-4E98-8C7B-5CDF80B1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09850"/>
            <a:ext cx="124015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Согласовать данные.</a:t>
            </a:r>
          </a:p>
          <a:p xmlns:a="http://schemas.openxmlformats.org/drawingml/2006/main">
            <a:pPr>
              <a:defRPr sz="4875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Подключить магазин.</a:t>
            </a:r>
          </a:p>
          <a:p xmlns:a="http://schemas.openxmlformats.org/drawingml/2006/main">
            <a:pPr>
              <a:defRPr sz="4875" b="1">
                <a:solidFill>
                  <a:srgbClr val="CAEF52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CAEF52"/>
                </a:solidFill>
                <a:latin typeface="Arial"/>
                <a:ea typeface="Arial"/>
                <a:cs typeface="Arial"/>
              </a:rPr>
              <a:t>Проверить на обращениях.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42F55-36D1-474D-AD8F-E60669FB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6950"/>
            <a:ext cx="112966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Начать с ограниченной группы товаров</a:t>
            </a:r>
          </a:p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измеримых критериев приёмки.</a:t>
            </a:r>
          </a:p>
        </p:txBody>
      </p:sp>
    </p:spTree>
    <p:extLst>
      <p:ext uri="{BB962C8B-B14F-4D97-AF65-F5344CB8AC3E}">
        <p14:creationId xmlns:p14="http://schemas.microsoft.com/office/powerpoint/2010/main" val="80988673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B6DAA-3815-46C5-9C12-B4F77B72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21  ПЕРЕДАЧА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48FEB-08EA-48CB-B208-B847FA44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2477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713"/>
                </a:solidFill>
                <a:latin typeface="Arial"/>
                <a:ea typeface="Arial"/>
                <a:cs typeface="Arial"/>
              </a:rPr>
              <a:t>Материалы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6E526-E0A9-4CD5-8733-1B34E904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81850"/>
            <a:ext cx="1057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22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765A4-7302-4D41-8BFA-EAFC243F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38425"/>
            <a:ext cx="124206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44FDB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44FDB"/>
                </a:solidFill>
                <a:latin typeface="Arial"/>
                <a:ea typeface="Arial"/>
                <a:cs typeface="Arial"/>
              </a:rPr>
              <a:t>BAITC-Hacks /</a:t>
            </a:r>
          </a:p>
          <a:p xmlns:a="http://schemas.openxmlformats.org/drawingml/2006/main">
            <a:pPr>
              <a:defRPr sz="5100" b="1">
                <a:solidFill>
                  <a:srgbClr val="244FDB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44FDB"/>
                </a:solidFill>
                <a:latin typeface="Arial"/>
                <a:ea typeface="Arial"/>
                <a:cs typeface="Arial"/>
              </a:rPr>
              <a:t>hack-66bc5b7b-ctrl-z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9A063-C2E7-491F-B9BA-D82B57E0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1525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Код и инструкция запуска</a:t>
            </a:r>
          </a:p>
          <a:p xmlns:a="http://schemas.openxmlformats.org/drawingml/2006/main">
            <a:pPr>
              <a:defRPr sz="262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Сценарии проверок</a:t>
            </a:r>
          </a:p>
          <a:p xmlns:a="http://schemas.openxmlformats.org/drawingml/2006/main">
            <a:pPr>
              <a:defRPr sz="2625" b="0">
                <a:solidFill>
                  <a:srgbClr val="101713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01713"/>
                </a:solidFill>
                <a:latin typeface="Arial"/>
                <a:ea typeface="Arial"/>
                <a:cs typeface="Arial"/>
              </a:rPr>
              <a:t>Презентация и демонстрационные материалы</a:t>
            </a:r>
          </a:p>
        </p:txBody>
      </p:sp>
    </p:spTree>
    <p:extLst>
      <p:ext uri="{BB962C8B-B14F-4D97-AF65-F5344CB8AC3E}">
        <p14:creationId xmlns:p14="http://schemas.microsoft.com/office/powerpoint/2010/main" val="581730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2026-09-23T11:14:27.7640000Z</dcterms:created>
  <dcterms:modified xsi:type="dcterms:W3CDTF">2026-09-23T11:14:27.7640000Z</dcterms:modified>
</coreProperties>
</file>